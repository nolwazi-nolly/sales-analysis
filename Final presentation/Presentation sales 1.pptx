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C0644-FBA3-44CD-B0E0-89D785F231FC}" v="1" dt="2026-04-20T18:35:24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lwazi ndiweni" userId="d7a0ab3191bdd4b2" providerId="LiveId" clId="{107DF659-6A4F-458A-B5A6-5EB5BB78E91B}"/>
    <pc:docChg chg="undo custSel addSld delSld modSld">
      <pc:chgData name="nolwazi ndiweni" userId="d7a0ab3191bdd4b2" providerId="LiveId" clId="{107DF659-6A4F-458A-B5A6-5EB5BB78E91B}" dt="2026-04-22T14:21:25.269" v="2622" actId="14100"/>
      <pc:docMkLst>
        <pc:docMk/>
      </pc:docMkLst>
      <pc:sldChg chg="addSp delSp modSp mod">
        <pc:chgData name="nolwazi ndiweni" userId="d7a0ab3191bdd4b2" providerId="LiveId" clId="{107DF659-6A4F-458A-B5A6-5EB5BB78E91B}" dt="2026-04-22T14:21:25.269" v="2622" actId="14100"/>
        <pc:sldMkLst>
          <pc:docMk/>
          <pc:sldMk cId="1126610155" sldId="258"/>
        </pc:sldMkLst>
        <pc:spChg chg="add mod">
          <ac:chgData name="nolwazi ndiweni" userId="d7a0ab3191bdd4b2" providerId="LiveId" clId="{107DF659-6A4F-458A-B5A6-5EB5BB78E91B}" dt="2026-04-17T18:31:57.739" v="2497" actId="1076"/>
          <ac:spMkLst>
            <pc:docMk/>
            <pc:sldMk cId="1126610155" sldId="258"/>
            <ac:spMk id="5" creationId="{2F095935-1338-FFB0-5133-083512D62DA5}"/>
          </ac:spMkLst>
        </pc:spChg>
        <pc:spChg chg="add mod">
          <ac:chgData name="nolwazi ndiweni" userId="d7a0ab3191bdd4b2" providerId="LiveId" clId="{107DF659-6A4F-458A-B5A6-5EB5BB78E91B}" dt="2026-04-20T15:10:43.018" v="2585" actId="1076"/>
          <ac:spMkLst>
            <pc:docMk/>
            <pc:sldMk cId="1126610155" sldId="258"/>
            <ac:spMk id="6" creationId="{B0F9A4D3-1B62-ACF5-85A2-3D6AFA8EDD19}"/>
          </ac:spMkLst>
        </pc:spChg>
        <pc:graphicFrameChg chg="add mod">
          <ac:chgData name="nolwazi ndiweni" userId="d7a0ab3191bdd4b2" providerId="LiveId" clId="{107DF659-6A4F-458A-B5A6-5EB5BB78E91B}" dt="2026-04-20T18:35:24.958" v="2587" actId="114"/>
          <ac:graphicFrameMkLst>
            <pc:docMk/>
            <pc:sldMk cId="1126610155" sldId="258"/>
            <ac:graphicFrameMk id="3" creationId="{851E1087-3A38-4F7A-B2F9-1058F26A5FDA}"/>
          </ac:graphicFrameMkLst>
        </pc:graphicFrameChg>
        <pc:graphicFrameChg chg="add mod">
          <ac:chgData name="nolwazi ndiweni" userId="d7a0ab3191bdd4b2" providerId="LiveId" clId="{107DF659-6A4F-458A-B5A6-5EB5BB78E91B}" dt="2026-04-22T14:21:25.269" v="2622" actId="14100"/>
          <ac:graphicFrameMkLst>
            <pc:docMk/>
            <pc:sldMk cId="1126610155" sldId="258"/>
            <ac:graphicFrameMk id="4" creationId="{24A3D75D-1B81-4D63-9961-3FCED3603852}"/>
          </ac:graphicFrameMkLst>
        </pc:graphicFrameChg>
      </pc:sldChg>
      <pc:sldChg chg="addSp delSp modSp mod">
        <pc:chgData name="nolwazi ndiweni" userId="d7a0ab3191bdd4b2" providerId="LiveId" clId="{107DF659-6A4F-458A-B5A6-5EB5BB78E91B}" dt="2026-04-20T15:11:35.156" v="2586" actId="1076"/>
        <pc:sldMkLst>
          <pc:docMk/>
          <pc:sldMk cId="765557596" sldId="259"/>
        </pc:sldMkLst>
        <pc:spChg chg="add mod">
          <ac:chgData name="nolwazi ndiweni" userId="d7a0ab3191bdd4b2" providerId="LiveId" clId="{107DF659-6A4F-458A-B5A6-5EB5BB78E91B}" dt="2026-04-20T15:11:35.156" v="2586" actId="1076"/>
          <ac:spMkLst>
            <pc:docMk/>
            <pc:sldMk cId="765557596" sldId="259"/>
            <ac:spMk id="5" creationId="{ADA3BA9C-529C-C4A6-F42A-F329CF9D33F9}"/>
          </ac:spMkLst>
        </pc:spChg>
        <pc:graphicFrameChg chg="add mod">
          <ac:chgData name="nolwazi ndiweni" userId="d7a0ab3191bdd4b2" providerId="LiveId" clId="{107DF659-6A4F-458A-B5A6-5EB5BB78E91B}" dt="2026-04-17T18:40:59.721" v="2515" actId="14100"/>
          <ac:graphicFrameMkLst>
            <pc:docMk/>
            <pc:sldMk cId="765557596" sldId="259"/>
            <ac:graphicFrameMk id="2" creationId="{96A5532C-3D19-4D18-A287-B3B6052E9330}"/>
          </ac:graphicFrameMkLst>
        </pc:graphicFrameChg>
        <pc:graphicFrameChg chg="add mod">
          <ac:chgData name="nolwazi ndiweni" userId="d7a0ab3191bdd4b2" providerId="LiveId" clId="{107DF659-6A4F-458A-B5A6-5EB5BB78E91B}" dt="2026-04-17T18:40:47.682" v="2513" actId="14100"/>
          <ac:graphicFrameMkLst>
            <pc:docMk/>
            <pc:sldMk cId="765557596" sldId="259"/>
            <ac:graphicFrameMk id="4" creationId="{4A85825A-7B55-4F76-812F-4D8188804A94}"/>
          </ac:graphicFrameMkLst>
        </pc:graphicFrameChg>
      </pc:sldChg>
      <pc:sldChg chg="addSp delSp modSp mod">
        <pc:chgData name="nolwazi ndiweni" userId="d7a0ab3191bdd4b2" providerId="LiveId" clId="{107DF659-6A4F-458A-B5A6-5EB5BB78E91B}" dt="2026-04-20T19:57:35.424" v="2613" actId="14100"/>
        <pc:sldMkLst>
          <pc:docMk/>
          <pc:sldMk cId="3227242652" sldId="260"/>
        </pc:sldMkLst>
        <pc:spChg chg="add mod">
          <ac:chgData name="nolwazi ndiweni" userId="d7a0ab3191bdd4b2" providerId="LiveId" clId="{107DF659-6A4F-458A-B5A6-5EB5BB78E91B}" dt="2026-04-20T18:37:41.372" v="2590" actId="114"/>
          <ac:spMkLst>
            <pc:docMk/>
            <pc:sldMk cId="3227242652" sldId="260"/>
            <ac:spMk id="5" creationId="{C13BDBCA-9DB6-3BCE-38AC-60D216B01505}"/>
          </ac:spMkLst>
        </pc:spChg>
        <pc:spChg chg="add mod">
          <ac:chgData name="nolwazi ndiweni" userId="d7a0ab3191bdd4b2" providerId="LiveId" clId="{107DF659-6A4F-458A-B5A6-5EB5BB78E91B}" dt="2026-04-18T20:59:30.854" v="2537" actId="1076"/>
          <ac:spMkLst>
            <pc:docMk/>
            <pc:sldMk cId="3227242652" sldId="260"/>
            <ac:spMk id="7" creationId="{1F6E6014-38E9-DF0B-E2C5-19892D3D4F12}"/>
          </ac:spMkLst>
        </pc:spChg>
        <pc:graphicFrameChg chg="add mod">
          <ac:chgData name="nolwazi ndiweni" userId="d7a0ab3191bdd4b2" providerId="LiveId" clId="{107DF659-6A4F-458A-B5A6-5EB5BB78E91B}" dt="2026-04-20T19:50:25.455" v="2605" actId="14100"/>
          <ac:graphicFrameMkLst>
            <pc:docMk/>
            <pc:sldMk cId="3227242652" sldId="260"/>
            <ac:graphicFrameMk id="2" creationId="{18394202-F587-456C-82DC-5A2064F4C04B}"/>
          </ac:graphicFrameMkLst>
        </pc:graphicFrameChg>
        <pc:graphicFrameChg chg="add mod">
          <ac:chgData name="nolwazi ndiweni" userId="d7a0ab3191bdd4b2" providerId="LiveId" clId="{107DF659-6A4F-458A-B5A6-5EB5BB78E91B}" dt="2026-04-20T19:57:35.424" v="2613" actId="14100"/>
          <ac:graphicFrameMkLst>
            <pc:docMk/>
            <pc:sldMk cId="3227242652" sldId="260"/>
            <ac:graphicFrameMk id="3" creationId="{4865977A-73DB-4C3F-AA9F-2C890EE5B643}"/>
          </ac:graphicFrameMkLst>
        </pc:graphicFrameChg>
      </pc:sldChg>
      <pc:sldChg chg="addSp delSp modSp mod">
        <pc:chgData name="nolwazi ndiweni" userId="d7a0ab3191bdd4b2" providerId="LiveId" clId="{107DF659-6A4F-458A-B5A6-5EB5BB78E91B}" dt="2026-04-18T21:20:45.492" v="2575" actId="1076"/>
        <pc:sldMkLst>
          <pc:docMk/>
          <pc:sldMk cId="2991053592" sldId="261"/>
        </pc:sldMkLst>
        <pc:spChg chg="add mod">
          <ac:chgData name="nolwazi ndiweni" userId="d7a0ab3191bdd4b2" providerId="LiveId" clId="{107DF659-6A4F-458A-B5A6-5EB5BB78E91B}" dt="2026-04-18T21:20:45.492" v="2575" actId="1076"/>
          <ac:spMkLst>
            <pc:docMk/>
            <pc:sldMk cId="2991053592" sldId="261"/>
            <ac:spMk id="8" creationId="{ACA08438-C389-4514-A626-B6D4D0B15FA2}"/>
          </ac:spMkLst>
        </pc:spChg>
        <pc:graphicFrameChg chg="add mod">
          <ac:chgData name="nolwazi ndiweni" userId="d7a0ab3191bdd4b2" providerId="LiveId" clId="{107DF659-6A4F-458A-B5A6-5EB5BB78E91B}" dt="2026-04-18T21:20:42.904" v="2574" actId="1076"/>
          <ac:graphicFrameMkLst>
            <pc:docMk/>
            <pc:sldMk cId="2991053592" sldId="261"/>
            <ac:graphicFrameMk id="4" creationId="{B23DFF91-82E3-4F5E-967A-2E536D2DD46C}"/>
          </ac:graphicFrameMkLst>
        </pc:graphicFrameChg>
        <pc:graphicFrameChg chg="add mod">
          <ac:chgData name="nolwazi ndiweni" userId="d7a0ab3191bdd4b2" providerId="LiveId" clId="{107DF659-6A4F-458A-B5A6-5EB5BB78E91B}" dt="2026-04-18T21:20:41.353" v="2573" actId="1076"/>
          <ac:graphicFrameMkLst>
            <pc:docMk/>
            <pc:sldMk cId="2991053592" sldId="261"/>
            <ac:graphicFrameMk id="6" creationId="{9E92B3E9-B869-4BCC-BC3B-17B8D6D1EB2D}"/>
          </ac:graphicFrameMkLst>
        </pc:graphicFrameChg>
      </pc:sldChg>
      <pc:sldChg chg="addSp delSp modSp mod">
        <pc:chgData name="nolwazi ndiweni" userId="d7a0ab3191bdd4b2" providerId="LiveId" clId="{107DF659-6A4F-458A-B5A6-5EB5BB78E91B}" dt="2026-04-20T18:37:24.582" v="2589" actId="114"/>
        <pc:sldMkLst>
          <pc:docMk/>
          <pc:sldMk cId="4047674660" sldId="262"/>
        </pc:sldMkLst>
        <pc:spChg chg="add mod">
          <ac:chgData name="nolwazi ndiweni" userId="d7a0ab3191bdd4b2" providerId="LiveId" clId="{107DF659-6A4F-458A-B5A6-5EB5BB78E91B}" dt="2026-04-17T13:11:05.200" v="2445" actId="20577"/>
          <ac:spMkLst>
            <pc:docMk/>
            <pc:sldMk cId="4047674660" sldId="262"/>
            <ac:spMk id="4" creationId="{72DBF6DA-2A6B-CAED-48C2-99BA7D0AA9E8}"/>
          </ac:spMkLst>
        </pc:spChg>
        <pc:spChg chg="add mod">
          <ac:chgData name="nolwazi ndiweni" userId="d7a0ab3191bdd4b2" providerId="LiveId" clId="{107DF659-6A4F-458A-B5A6-5EB5BB78E91B}" dt="2026-04-20T18:37:24.582" v="2589" actId="114"/>
          <ac:spMkLst>
            <pc:docMk/>
            <pc:sldMk cId="4047674660" sldId="262"/>
            <ac:spMk id="5" creationId="{3F731F6A-DDD4-90D6-12B6-95A0E8FA6FD5}"/>
          </ac:spMkLst>
        </pc:spChg>
        <pc:graphicFrameChg chg="add mod">
          <ac:chgData name="nolwazi ndiweni" userId="d7a0ab3191bdd4b2" providerId="LiveId" clId="{107DF659-6A4F-458A-B5A6-5EB5BB78E91B}" dt="2026-04-18T21:35:17.298" v="2580" actId="1076"/>
          <ac:graphicFrameMkLst>
            <pc:docMk/>
            <pc:sldMk cId="4047674660" sldId="262"/>
            <ac:graphicFrameMk id="3" creationId="{6AEFCB98-C99D-476E-9A94-9CDDB7031A4F}"/>
          </ac:graphicFrameMkLst>
        </pc:graphicFrameChg>
      </pc:sldChg>
      <pc:sldChg chg="addSp delSp modSp new mod">
        <pc:chgData name="nolwazi ndiweni" userId="d7a0ab3191bdd4b2" providerId="LiveId" clId="{107DF659-6A4F-458A-B5A6-5EB5BB78E91B}" dt="2026-04-16T13:08:20.470" v="1334" actId="1076"/>
        <pc:sldMkLst>
          <pc:docMk/>
          <pc:sldMk cId="1736445285" sldId="263"/>
        </pc:sldMkLst>
        <pc:spChg chg="add mod">
          <ac:chgData name="nolwazi ndiweni" userId="d7a0ab3191bdd4b2" providerId="LiveId" clId="{107DF659-6A4F-458A-B5A6-5EB5BB78E91B}" dt="2026-04-10T20:42:54.996" v="1113" actId="1076"/>
          <ac:spMkLst>
            <pc:docMk/>
            <pc:sldMk cId="1736445285" sldId="263"/>
            <ac:spMk id="5" creationId="{BD1C8321-3538-6819-330D-A65512CFA78C}"/>
          </ac:spMkLst>
        </pc:spChg>
        <pc:spChg chg="add mod">
          <ac:chgData name="nolwazi ndiweni" userId="d7a0ab3191bdd4b2" providerId="LiveId" clId="{107DF659-6A4F-458A-B5A6-5EB5BB78E91B}" dt="2026-04-10T21:33:33.519" v="1204" actId="255"/>
          <ac:spMkLst>
            <pc:docMk/>
            <pc:sldMk cId="1736445285" sldId="263"/>
            <ac:spMk id="7" creationId="{8D275ADB-E5B0-3963-F4D3-E6F8F39E062C}"/>
          </ac:spMkLst>
        </pc:spChg>
        <pc:spChg chg="add mod">
          <ac:chgData name="nolwazi ndiweni" userId="d7a0ab3191bdd4b2" providerId="LiveId" clId="{107DF659-6A4F-458A-B5A6-5EB5BB78E91B}" dt="2026-04-16T13:08:20.470" v="1334" actId="1076"/>
          <ac:spMkLst>
            <pc:docMk/>
            <pc:sldMk cId="1736445285" sldId="263"/>
            <ac:spMk id="9" creationId="{FD1E4E91-E72C-81F1-396E-7D56D6DAD344}"/>
          </ac:spMkLst>
        </pc:spChg>
        <pc:graphicFrameChg chg="add mod modGraphic">
          <ac:chgData name="nolwazi ndiweni" userId="d7a0ab3191bdd4b2" providerId="LiveId" clId="{107DF659-6A4F-458A-B5A6-5EB5BB78E91B}" dt="2026-04-16T12:41:47.180" v="1313" actId="20577"/>
          <ac:graphicFrameMkLst>
            <pc:docMk/>
            <pc:sldMk cId="1736445285" sldId="263"/>
            <ac:graphicFrameMk id="3" creationId="{27B65925-D471-25B1-4F81-2781B4851770}"/>
          </ac:graphicFrameMkLst>
        </pc:graphicFrameChg>
      </pc:sldChg>
      <pc:sldChg chg="addSp modSp new mod">
        <pc:chgData name="nolwazi ndiweni" userId="d7a0ab3191bdd4b2" providerId="LiveId" clId="{107DF659-6A4F-458A-B5A6-5EB5BB78E91B}" dt="2026-04-20T18:38:19.936" v="2591" actId="115"/>
        <pc:sldMkLst>
          <pc:docMk/>
          <pc:sldMk cId="2751338294" sldId="264"/>
        </pc:sldMkLst>
        <pc:spChg chg="add mod">
          <ac:chgData name="nolwazi ndiweni" userId="d7a0ab3191bdd4b2" providerId="LiveId" clId="{107DF659-6A4F-458A-B5A6-5EB5BB78E91B}" dt="2026-04-20T18:38:19.936" v="2591" actId="115"/>
          <ac:spMkLst>
            <pc:docMk/>
            <pc:sldMk cId="2751338294" sldId="264"/>
            <ac:spMk id="3" creationId="{64FC3527-6B12-02BA-CF68-17024EB17BA0}"/>
          </ac:spMkLst>
        </pc:spChg>
        <pc:spChg chg="add mod">
          <ac:chgData name="nolwazi ndiweni" userId="d7a0ab3191bdd4b2" providerId="LiveId" clId="{107DF659-6A4F-458A-B5A6-5EB5BB78E91B}" dt="2026-04-10T22:06:30.921" v="1234" actId="14100"/>
          <ac:spMkLst>
            <pc:docMk/>
            <pc:sldMk cId="2751338294" sldId="264"/>
            <ac:spMk id="5" creationId="{96D68F2D-9291-DF44-32D9-9C54A73EF24B}"/>
          </ac:spMkLst>
        </pc:spChg>
        <pc:spChg chg="add mod">
          <ac:chgData name="nolwazi ndiweni" userId="d7a0ab3191bdd4b2" providerId="LiveId" clId="{107DF659-6A4F-458A-B5A6-5EB5BB78E91B}" dt="2026-04-10T22:08:25.759" v="1240" actId="14100"/>
          <ac:spMkLst>
            <pc:docMk/>
            <pc:sldMk cId="2751338294" sldId="264"/>
            <ac:spMk id="7" creationId="{C364755C-D66B-D10E-E67A-0D7AF9748C10}"/>
          </ac:spMkLst>
        </pc:spChg>
        <pc:spChg chg="add mod">
          <ac:chgData name="nolwazi ndiweni" userId="d7a0ab3191bdd4b2" providerId="LiveId" clId="{107DF659-6A4F-458A-B5A6-5EB5BB78E91B}" dt="2026-04-17T13:41:52.441" v="2485" actId="20577"/>
          <ac:spMkLst>
            <pc:docMk/>
            <pc:sldMk cId="2751338294" sldId="264"/>
            <ac:spMk id="9" creationId="{B9E9772D-19F3-01B5-8480-8EDD1837E04E}"/>
          </ac:spMkLst>
        </pc:spChg>
        <pc:spChg chg="add mod">
          <ac:chgData name="nolwazi ndiweni" userId="d7a0ab3191bdd4b2" providerId="LiveId" clId="{107DF659-6A4F-458A-B5A6-5EB5BB78E91B}" dt="2026-04-17T13:42:04.793" v="2486" actId="1076"/>
          <ac:spMkLst>
            <pc:docMk/>
            <pc:sldMk cId="2751338294" sldId="264"/>
            <ac:spMk id="11" creationId="{AFFFA74A-9C18-2FA6-6D78-F543C33F39D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7a0ab3191bdd4b2/Documents/BOBOE/SQL%20Quries/sales%20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spc="0" baseline="0" dirty="0">
                <a:solidFill>
                  <a:schemeClr val="tx1"/>
                </a:solidFill>
                <a:effectLst/>
              </a:rPr>
              <a:t>2015 marks the high point in unit pricing</a:t>
            </a:r>
            <a:endParaRPr lang="en-US" sz="1800" b="1" i="0" u="none" strike="noStrike" kern="1200" spc="0" baseline="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sz="1800" i="0"/>
          </a:p>
        </c:rich>
      </c:tx>
      <c:layout>
        <c:manualLayout>
          <c:xMode val="edge"/>
          <c:yMode val="edge"/>
          <c:x val="2.213538428833119E-2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Sheet1!$R$17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Sheet1!$V$16</c:f>
              <c:strCache>
                <c:ptCount val="1"/>
                <c:pt idx="0">
                  <c:v>avg_unit_price</c:v>
                </c:pt>
              </c:strCache>
            </c:strRef>
          </c:cat>
          <c:val>
            <c:numRef>
              <c:f>Sheet1!$V$17</c:f>
              <c:numCache>
                <c:formatCode>General</c:formatCode>
                <c:ptCount val="1"/>
                <c:pt idx="0">
                  <c:v>33.454871801083399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DD-4A20-9E3B-835ED076F591}"/>
            </c:ext>
          </c:extLst>
        </c:ser>
        <c:ser>
          <c:idx val="1"/>
          <c:order val="1"/>
          <c:tx>
            <c:strRef>
              <c:f>Sheet1!$R$18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Sheet1!$V$16</c:f>
              <c:strCache>
                <c:ptCount val="1"/>
                <c:pt idx="0">
                  <c:v>avg_unit_price</c:v>
                </c:pt>
              </c:strCache>
            </c:strRef>
          </c:cat>
          <c:val>
            <c:numRef>
              <c:f>Sheet1!$V$18</c:f>
              <c:numCache>
                <c:formatCode>General</c:formatCode>
                <c:ptCount val="1"/>
                <c:pt idx="0">
                  <c:v>37.326105658957403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DD-4A20-9E3B-835ED076F591}"/>
            </c:ext>
          </c:extLst>
        </c:ser>
        <c:ser>
          <c:idx val="2"/>
          <c:order val="2"/>
          <c:tx>
            <c:strRef>
              <c:f>Sheet1!$R$19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Sheet1!$V$16</c:f>
              <c:strCache>
                <c:ptCount val="1"/>
                <c:pt idx="0">
                  <c:v>avg_unit_price</c:v>
                </c:pt>
              </c:strCache>
            </c:strRef>
          </c:cat>
          <c:val>
            <c:numRef>
              <c:f>Sheet1!$V$19</c:f>
              <c:numCache>
                <c:formatCode>General</c:formatCode>
                <c:ptCount val="1"/>
                <c:pt idx="0">
                  <c:v>36.272305290491303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DD-4A20-9E3B-835ED076F5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01553136"/>
        <c:axId val="1001551216"/>
      </c:barChart>
      <c:catAx>
        <c:axId val="100155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1551216"/>
        <c:crosses val="autoZero"/>
        <c:auto val="1"/>
        <c:lblAlgn val="ctr"/>
        <c:lblOffset val="100"/>
        <c:noMultiLvlLbl val="0"/>
      </c:catAx>
      <c:valAx>
        <c:axId val="1001551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1553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023090286380742"/>
          <c:y val="0.93679528382160815"/>
          <c:w val="0.40781893314431356"/>
          <c:h val="3.9686785608137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>
                <a:solidFill>
                  <a:schemeClr val="tx1"/>
                </a:solidFill>
              </a:rPr>
              <a:t>Volume continues to fall even after prices eased in 2016</a:t>
            </a:r>
            <a:endParaRPr lang="en-US" sz="1800" b="1" i="1" u="none" strike="noStrike" kern="1200" spc="0" baseline="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chemeClr val="tx1"/>
                </a:solidFill>
              </a:defRPr>
            </a:pPr>
            <a:endParaRPr lang="en-US" sz="1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8.465223097112862E-3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Sheet1!$U$16</c:f>
              <c:strCache>
                <c:ptCount val="1"/>
                <c:pt idx="0">
                  <c:v>total_quantity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Sheet1!$R$17:$R$19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Sheet1!$U$17:$U$19</c:f>
              <c:numCache>
                <c:formatCode>General</c:formatCode>
                <c:ptCount val="3"/>
                <c:pt idx="0">
                  <c:v>2254230</c:v>
                </c:pt>
                <c:pt idx="1">
                  <c:v>1715089</c:v>
                </c:pt>
                <c:pt idx="2">
                  <c:v>1294458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0F-4730-8E9C-7051D7D52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3576224"/>
        <c:axId val="993576704"/>
      </c:barChart>
      <c:lineChart>
        <c:grouping val="standard"/>
        <c:varyColors val="0"/>
        <c:ser>
          <c:idx val="2"/>
          <c:order val="1"/>
          <c:tx>
            <c:strRef>
              <c:f>Sheet1!$V$16</c:f>
              <c:strCache>
                <c:ptCount val="1"/>
                <c:pt idx="0">
                  <c:v>avg_unit_price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Sheet1!$R$17:$R$19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Sheet1!$V$17:$V$19</c:f>
              <c:numCache>
                <c:formatCode>General</c:formatCode>
                <c:ptCount val="3"/>
                <c:pt idx="0">
                  <c:v>33.454871801083399</c:v>
                </c:pt>
                <c:pt idx="1">
                  <c:v>37.326105658957403</c:v>
                </c:pt>
                <c:pt idx="2">
                  <c:v>36.272305290491303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0F-4730-8E9C-7051D7D52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38238592"/>
        <c:axId val="938238112"/>
      </c:lineChart>
      <c:catAx>
        <c:axId val="99357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3576704"/>
        <c:crosses val="autoZero"/>
        <c:auto val="1"/>
        <c:lblAlgn val="ctr"/>
        <c:lblOffset val="100"/>
        <c:noMultiLvlLbl val="0"/>
      </c:catAx>
      <c:valAx>
        <c:axId val="9935767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total_quantity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417445683872849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3576224"/>
        <c:crosses val="autoZero"/>
        <c:crossBetween val="between"/>
      </c:valAx>
      <c:valAx>
        <c:axId val="93823811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avg_unit_price</a:t>
                </a:r>
              </a:p>
            </c:rich>
          </c:tx>
          <c:layout>
            <c:manualLayout>
              <c:xMode val="edge"/>
              <c:yMode val="edge"/>
              <c:x val="0.95741543762114523"/>
              <c:y val="0.400113928288409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238592"/>
        <c:crosses val="max"/>
        <c:crossBetween val="between"/>
      </c:valAx>
      <c:catAx>
        <c:axId val="9382385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382381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1" u="none" strike="noStrike" kern="1200" spc="0" baseline="0" dirty="0">
                <a:solidFill>
                  <a:schemeClr val="tx1"/>
                </a:solidFill>
              </a:rPr>
              <a:t>A price drop triggers a strong increase in quantity sold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 sz="1800"/>
          </a:p>
        </c:rich>
      </c:tx>
      <c:layout>
        <c:manualLayout>
          <c:xMode val="edge"/>
          <c:yMode val="edge"/>
          <c:x val="9.6734470691163532E-3"/>
          <c:y val="4.62962962962962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total_quantity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Sheet1!$K$2:$K$36</c:f>
              <c:numCache>
                <c:formatCode>mmm\ yyyy</c:formatCode>
                <c:ptCount val="35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  <c:pt idx="29">
                  <c:v>42522</c:v>
                </c:pt>
                <c:pt idx="30">
                  <c:v>42552</c:v>
                </c:pt>
                <c:pt idx="31">
                  <c:v>42583</c:v>
                </c:pt>
                <c:pt idx="32">
                  <c:v>42614</c:v>
                </c:pt>
                <c:pt idx="33">
                  <c:v>42644</c:v>
                </c:pt>
                <c:pt idx="34">
                  <c:v>42675</c:v>
                </c:pt>
              </c:numCache>
            </c:numRef>
          </c:cat>
          <c:val>
            <c:numRef>
              <c:f>Sheet1!$N$2:$N$36</c:f>
              <c:numCache>
                <c:formatCode>General</c:formatCode>
                <c:ptCount val="35"/>
                <c:pt idx="0">
                  <c:v>119965</c:v>
                </c:pt>
                <c:pt idx="1">
                  <c:v>178035</c:v>
                </c:pt>
                <c:pt idx="2">
                  <c:v>252836</c:v>
                </c:pt>
                <c:pt idx="3">
                  <c:v>190091</c:v>
                </c:pt>
                <c:pt idx="4">
                  <c:v>235793</c:v>
                </c:pt>
                <c:pt idx="5">
                  <c:v>198857</c:v>
                </c:pt>
                <c:pt idx="6">
                  <c:v>147449</c:v>
                </c:pt>
                <c:pt idx="7">
                  <c:v>310572</c:v>
                </c:pt>
                <c:pt idx="8">
                  <c:v>237742</c:v>
                </c:pt>
                <c:pt idx="9">
                  <c:v>171709</c:v>
                </c:pt>
                <c:pt idx="10">
                  <c:v>68569</c:v>
                </c:pt>
                <c:pt idx="11">
                  <c:v>142612</c:v>
                </c:pt>
                <c:pt idx="12">
                  <c:v>91740</c:v>
                </c:pt>
                <c:pt idx="13">
                  <c:v>127753</c:v>
                </c:pt>
                <c:pt idx="14">
                  <c:v>136673</c:v>
                </c:pt>
                <c:pt idx="15">
                  <c:v>153702</c:v>
                </c:pt>
                <c:pt idx="16">
                  <c:v>220775</c:v>
                </c:pt>
                <c:pt idx="17">
                  <c:v>136581</c:v>
                </c:pt>
                <c:pt idx="18">
                  <c:v>95600</c:v>
                </c:pt>
                <c:pt idx="19">
                  <c:v>108899</c:v>
                </c:pt>
                <c:pt idx="20">
                  <c:v>134837</c:v>
                </c:pt>
                <c:pt idx="21">
                  <c:v>135328</c:v>
                </c:pt>
                <c:pt idx="22">
                  <c:v>185868</c:v>
                </c:pt>
                <c:pt idx="23">
                  <c:v>187333</c:v>
                </c:pt>
                <c:pt idx="24">
                  <c:v>150561</c:v>
                </c:pt>
                <c:pt idx="25">
                  <c:v>132990</c:v>
                </c:pt>
                <c:pt idx="26">
                  <c:v>74185</c:v>
                </c:pt>
                <c:pt idx="27">
                  <c:v>190235</c:v>
                </c:pt>
                <c:pt idx="28">
                  <c:v>146298</c:v>
                </c:pt>
                <c:pt idx="29">
                  <c:v>197469</c:v>
                </c:pt>
                <c:pt idx="30">
                  <c:v>90653</c:v>
                </c:pt>
                <c:pt idx="31">
                  <c:v>123621</c:v>
                </c:pt>
                <c:pt idx="32">
                  <c:v>88672</c:v>
                </c:pt>
                <c:pt idx="33">
                  <c:v>56667</c:v>
                </c:pt>
                <c:pt idx="34">
                  <c:v>43107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80-4C85-9875-3EA72C66CB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0133439"/>
        <c:axId val="1430134879"/>
      </c:lineChart>
      <c:lineChart>
        <c:grouping val="standard"/>
        <c:varyColors val="0"/>
        <c:ser>
          <c:idx val="1"/>
          <c:order val="1"/>
          <c:tx>
            <c:strRef>
              <c:f>Sheet1!$O$1</c:f>
              <c:strCache>
                <c:ptCount val="1"/>
                <c:pt idx="0">
                  <c:v>avg_unit_price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Sheet1!$K$2:$K$36</c:f>
              <c:numCache>
                <c:formatCode>mmm\ yyyy</c:formatCode>
                <c:ptCount val="35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  <c:pt idx="29">
                  <c:v>42522</c:v>
                </c:pt>
                <c:pt idx="30">
                  <c:v>42552</c:v>
                </c:pt>
                <c:pt idx="31">
                  <c:v>42583</c:v>
                </c:pt>
                <c:pt idx="32">
                  <c:v>42614</c:v>
                </c:pt>
                <c:pt idx="33">
                  <c:v>42644</c:v>
                </c:pt>
                <c:pt idx="34">
                  <c:v>42675</c:v>
                </c:pt>
              </c:numCache>
            </c:numRef>
          </c:cat>
          <c:val>
            <c:numRef>
              <c:f>Sheet1!$O$2:$O$36</c:f>
              <c:numCache>
                <c:formatCode>General</c:formatCode>
                <c:ptCount val="35"/>
                <c:pt idx="0">
                  <c:v>33.411248853832397</c:v>
                </c:pt>
                <c:pt idx="1">
                  <c:v>32.468263043432501</c:v>
                </c:pt>
                <c:pt idx="2">
                  <c:v>32.746591355166998</c:v>
                </c:pt>
                <c:pt idx="3">
                  <c:v>33.856117637407898</c:v>
                </c:pt>
                <c:pt idx="4">
                  <c:v>32.634158721844997</c:v>
                </c:pt>
                <c:pt idx="5">
                  <c:v>32.470285886969002</c:v>
                </c:pt>
                <c:pt idx="6">
                  <c:v>33.460456268989603</c:v>
                </c:pt>
                <c:pt idx="7">
                  <c:v>32.2320695261485</c:v>
                </c:pt>
                <c:pt idx="8">
                  <c:v>32.1501991589097</c:v>
                </c:pt>
                <c:pt idx="9">
                  <c:v>34.504209747669002</c:v>
                </c:pt>
                <c:pt idx="10">
                  <c:v>38.375262110520097</c:v>
                </c:pt>
                <c:pt idx="11">
                  <c:v>39.376905602044403</c:v>
                </c:pt>
                <c:pt idx="12">
                  <c:v>40.2898574606224</c:v>
                </c:pt>
                <c:pt idx="13">
                  <c:v>38.367043392572</c:v>
                </c:pt>
                <c:pt idx="14">
                  <c:v>38.554455622407097</c:v>
                </c:pt>
                <c:pt idx="15">
                  <c:v>38.802318442302301</c:v>
                </c:pt>
                <c:pt idx="16">
                  <c:v>37.976977409126903</c:v>
                </c:pt>
                <c:pt idx="17">
                  <c:v>39.039897913143101</c:v>
                </c:pt>
                <c:pt idx="18">
                  <c:v>38.469585553412699</c:v>
                </c:pt>
                <c:pt idx="19">
                  <c:v>36.131354547849398</c:v>
                </c:pt>
                <c:pt idx="20">
                  <c:v>34.633667742695799</c:v>
                </c:pt>
                <c:pt idx="21">
                  <c:v>35.683488103903102</c:v>
                </c:pt>
                <c:pt idx="22">
                  <c:v>35.176302032894299</c:v>
                </c:pt>
                <c:pt idx="23">
                  <c:v>36.409440216419398</c:v>
                </c:pt>
                <c:pt idx="24">
                  <c:v>35.8863883191447</c:v>
                </c:pt>
                <c:pt idx="25">
                  <c:v>36.783835896965897</c:v>
                </c:pt>
                <c:pt idx="26">
                  <c:v>39.790469560895097</c:v>
                </c:pt>
                <c:pt idx="27">
                  <c:v>34.992931049918496</c:v>
                </c:pt>
                <c:pt idx="28">
                  <c:v>35.340413942133502</c:v>
                </c:pt>
                <c:pt idx="29">
                  <c:v>34.289609559760002</c:v>
                </c:pt>
                <c:pt idx="30">
                  <c:v>36.676397051118002</c:v>
                </c:pt>
                <c:pt idx="31">
                  <c:v>35.134236095733101</c:v>
                </c:pt>
                <c:pt idx="32">
                  <c:v>36.7595465944718</c:v>
                </c:pt>
                <c:pt idx="33">
                  <c:v>41.102805955461299</c:v>
                </c:pt>
                <c:pt idx="34">
                  <c:v>42.9403544522931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80-4C85-9875-3EA72C66CB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8033359"/>
        <c:axId val="1418033839"/>
      </c:lineChart>
      <c:dateAx>
        <c:axId val="1430133439"/>
        <c:scaling>
          <c:orientation val="minMax"/>
        </c:scaling>
        <c:delete val="0"/>
        <c:axPos val="b"/>
        <c:numFmt formatCode="mmm\ 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134879"/>
        <c:crosses val="autoZero"/>
        <c:auto val="1"/>
        <c:lblOffset val="100"/>
        <c:baseTimeUnit val="months"/>
      </c:dateAx>
      <c:valAx>
        <c:axId val="14301348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total_quantity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239355132691746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133439"/>
        <c:crosses val="autoZero"/>
        <c:crossBetween val="between"/>
      </c:valAx>
      <c:valAx>
        <c:axId val="14180338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avg_unit_price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033359"/>
        <c:crosses val="max"/>
        <c:crossBetween val="between"/>
      </c:valAx>
      <c:dateAx>
        <c:axId val="1418033359"/>
        <c:scaling>
          <c:orientation val="minMax"/>
        </c:scaling>
        <c:delete val="1"/>
        <c:axPos val="b"/>
        <c:numFmt formatCode="mmm\ yyyy" sourceLinked="1"/>
        <c:majorTickMark val="out"/>
        <c:minorTickMark val="none"/>
        <c:tickLblPos val="nextTo"/>
        <c:crossAx val="1418033839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>
                <a:solidFill>
                  <a:schemeClr val="tx1"/>
                </a:solidFill>
              </a:rPr>
              <a:t>All years show a year‑end price rise, with 2016 displaying the strongest upward trend.</a:t>
            </a:r>
            <a:endParaRPr lang="en-US" sz="1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2.7235127789863395E-4"/>
          <c:y val="8.9445163352687559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28830187707145"/>
          <c:y val="0.24241483498750535"/>
          <c:w val="0.86303561005669382"/>
          <c:h val="0.54569277847765829"/>
        </c:manualLayout>
      </c:layout>
      <c:lineChart>
        <c:grouping val="standard"/>
        <c:varyColors val="0"/>
        <c:ser>
          <c:idx val="0"/>
          <c:order val="0"/>
          <c:tx>
            <c:strRef>
              <c:f>Sheet1!$S$1</c:f>
              <c:strCache>
                <c:ptCount val="1"/>
                <c:pt idx="0">
                  <c:v>2014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Sheet1!$R$2:$R$13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Sheet1!$S$2:$S$13</c:f>
              <c:numCache>
                <c:formatCode>General</c:formatCode>
                <c:ptCount val="12"/>
                <c:pt idx="0">
                  <c:v>33.411248853832397</c:v>
                </c:pt>
                <c:pt idx="1">
                  <c:v>32.468263043432501</c:v>
                </c:pt>
                <c:pt idx="2">
                  <c:v>32.746591355166998</c:v>
                </c:pt>
                <c:pt idx="3">
                  <c:v>33.856117637407898</c:v>
                </c:pt>
                <c:pt idx="4">
                  <c:v>32.634158721844997</c:v>
                </c:pt>
                <c:pt idx="5">
                  <c:v>32.470285886969002</c:v>
                </c:pt>
                <c:pt idx="6">
                  <c:v>33.460456268989603</c:v>
                </c:pt>
                <c:pt idx="7">
                  <c:v>32.2320695261485</c:v>
                </c:pt>
                <c:pt idx="8">
                  <c:v>32.1501991589097</c:v>
                </c:pt>
                <c:pt idx="9">
                  <c:v>34.504209747669002</c:v>
                </c:pt>
                <c:pt idx="10">
                  <c:v>38.375262110520097</c:v>
                </c:pt>
                <c:pt idx="11">
                  <c:v>39.376905602044403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F7-4A9D-B157-4BA8A2427F8F}"/>
            </c:ext>
          </c:extLst>
        </c:ser>
        <c:ser>
          <c:idx val="1"/>
          <c:order val="1"/>
          <c:tx>
            <c:strRef>
              <c:f>Sheet1!$T$1</c:f>
              <c:strCache>
                <c:ptCount val="1"/>
                <c:pt idx="0">
                  <c:v>2015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Sheet1!$R$2:$R$13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Sheet1!$T$2:$T$13</c:f>
              <c:numCache>
                <c:formatCode>General</c:formatCode>
                <c:ptCount val="12"/>
                <c:pt idx="0">
                  <c:v>40.2898574606224</c:v>
                </c:pt>
                <c:pt idx="1">
                  <c:v>38.367043392572</c:v>
                </c:pt>
                <c:pt idx="2">
                  <c:v>38.554455622407097</c:v>
                </c:pt>
                <c:pt idx="3">
                  <c:v>38.802318442302301</c:v>
                </c:pt>
                <c:pt idx="4">
                  <c:v>37.976977409126903</c:v>
                </c:pt>
                <c:pt idx="5">
                  <c:v>39.039897913143101</c:v>
                </c:pt>
                <c:pt idx="6">
                  <c:v>38.469585553412699</c:v>
                </c:pt>
                <c:pt idx="7">
                  <c:v>36.131354547849398</c:v>
                </c:pt>
                <c:pt idx="8">
                  <c:v>34.633667742695799</c:v>
                </c:pt>
                <c:pt idx="9">
                  <c:v>35.683488103903102</c:v>
                </c:pt>
                <c:pt idx="10">
                  <c:v>35.176302032894299</c:v>
                </c:pt>
                <c:pt idx="11">
                  <c:v>36.409440216419398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F7-4A9D-B157-4BA8A2427F8F}"/>
            </c:ext>
          </c:extLst>
        </c:ser>
        <c:ser>
          <c:idx val="2"/>
          <c:order val="2"/>
          <c:tx>
            <c:strRef>
              <c:f>Sheet1!$U$1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Sheet1!$R$2:$R$13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Sheet1!$U$2:$U$13</c:f>
              <c:numCache>
                <c:formatCode>General</c:formatCode>
                <c:ptCount val="12"/>
                <c:pt idx="0">
                  <c:v>35.8863883191447</c:v>
                </c:pt>
                <c:pt idx="1">
                  <c:v>36.783835896965897</c:v>
                </c:pt>
                <c:pt idx="2">
                  <c:v>39.790469560895097</c:v>
                </c:pt>
                <c:pt idx="3">
                  <c:v>34.992931049918496</c:v>
                </c:pt>
                <c:pt idx="4">
                  <c:v>35.340413942133502</c:v>
                </c:pt>
                <c:pt idx="5">
                  <c:v>34.289609559760002</c:v>
                </c:pt>
                <c:pt idx="6">
                  <c:v>36.676397051118002</c:v>
                </c:pt>
                <c:pt idx="7">
                  <c:v>35.134236095733101</c:v>
                </c:pt>
                <c:pt idx="8">
                  <c:v>36.7595465944718</c:v>
                </c:pt>
                <c:pt idx="9">
                  <c:v>41.102805955461299</c:v>
                </c:pt>
                <c:pt idx="10">
                  <c:v>42.9403544522931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F7-4A9D-B157-4BA8A2427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8654720"/>
        <c:axId val="1228655200"/>
      </c:lineChart>
      <c:catAx>
        <c:axId val="122865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655200"/>
        <c:crosses val="autoZero"/>
        <c:auto val="1"/>
        <c:lblAlgn val="ctr"/>
        <c:lblOffset val="100"/>
        <c:noMultiLvlLbl val="0"/>
      </c:catAx>
      <c:valAx>
        <c:axId val="12286552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Avg_unit_price</a:t>
                </a:r>
              </a:p>
            </c:rich>
          </c:tx>
          <c:layout>
            <c:manualLayout>
              <c:xMode val="edge"/>
              <c:yMode val="edge"/>
              <c:x val="0"/>
              <c:y val="0.3604686188867611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65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chemeClr val="tx1"/>
                </a:solidFill>
              </a:rPr>
              <a:t>Gross profit margins remain negative across all years</a:t>
            </a:r>
            <a:endParaRPr lang="en-US" sz="18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4008901061281061E-4"/>
          <c:y val="2.555941406552669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Sheet1!$R$17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Sheet1!$W$16</c:f>
              <c:strCache>
                <c:ptCount val="1"/>
                <c:pt idx="0">
                  <c:v>gross profit %</c:v>
                </c:pt>
              </c:strCache>
            </c:strRef>
          </c:cat>
          <c:val>
            <c:numRef>
              <c:f>Sheet1!$W$17</c:f>
              <c:numCache>
                <c:formatCode>General</c:formatCode>
                <c:ptCount val="1"/>
                <c:pt idx="0">
                  <c:v>-3.0045410380941497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0-4E2D-9E08-0B4DCF74C345}"/>
            </c:ext>
          </c:extLst>
        </c:ser>
        <c:ser>
          <c:idx val="1"/>
          <c:order val="1"/>
          <c:tx>
            <c:strRef>
              <c:f>Sheet1!$R$18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Sheet1!$W$16</c:f>
              <c:strCache>
                <c:ptCount val="1"/>
                <c:pt idx="0">
                  <c:v>gross profit %</c:v>
                </c:pt>
              </c:strCache>
            </c:strRef>
          </c:cat>
          <c:val>
            <c:numRef>
              <c:f>Sheet1!$W$18</c:f>
              <c:numCache>
                <c:formatCode>General</c:formatCode>
                <c:ptCount val="1"/>
                <c:pt idx="0">
                  <c:v>-6.0914670376998545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0-4E2D-9E08-0B4DCF74C345}"/>
            </c:ext>
          </c:extLst>
        </c:ser>
        <c:ser>
          <c:idx val="2"/>
          <c:order val="2"/>
          <c:tx>
            <c:strRef>
              <c:f>Sheet1!$R$19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Sheet1!$W$16</c:f>
              <c:strCache>
                <c:ptCount val="1"/>
                <c:pt idx="0">
                  <c:v>gross profit %</c:v>
                </c:pt>
              </c:strCache>
            </c:strRef>
          </c:cat>
          <c:val>
            <c:numRef>
              <c:f>Sheet1!$W$19</c:f>
              <c:numCache>
                <c:formatCode>General</c:formatCode>
                <c:ptCount val="1"/>
                <c:pt idx="0">
                  <c:v>-1.997774294922261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0-4E2D-9E08-0B4DCF74C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95067424"/>
        <c:axId val="1195067904"/>
      </c:barChart>
      <c:catAx>
        <c:axId val="11950674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5067904"/>
        <c:crosses val="autoZero"/>
        <c:auto val="1"/>
        <c:lblAlgn val="ctr"/>
        <c:lblOffset val="100"/>
        <c:noMultiLvlLbl val="0"/>
      </c:catAx>
      <c:valAx>
        <c:axId val="11950679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gross</a:t>
                </a:r>
                <a:r>
                  <a:rPr lang="en-US" sz="1400" baseline="0"/>
                  <a:t> profit %</a:t>
                </a:r>
                <a:endParaRPr lang="en-US" sz="14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06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1335279014036292"/>
          <c:y val="0.92187445319335082"/>
          <c:w val="0.38561314618281411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chemeClr val="tx1"/>
                </a:solidFill>
              </a:rPr>
              <a:t>Cost–Price gap peaks in 2015</a:t>
            </a:r>
            <a:endParaRPr lang="en-US" sz="18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8.3333333333316769E-5"/>
          <c:y val="2.555942435346228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638943569553803E-2"/>
          <c:y val="0.16489672684401688"/>
          <c:w val="0.9054443897637795"/>
          <c:h val="0.67849444122771385"/>
        </c:manualLayout>
      </c:layout>
      <c:lineChart>
        <c:grouping val="standard"/>
        <c:varyColors val="0"/>
        <c:ser>
          <c:idx val="1"/>
          <c:order val="0"/>
          <c:tx>
            <c:strRef>
              <c:f>Sheet1!$V$16</c:f>
              <c:strCache>
                <c:ptCount val="1"/>
                <c:pt idx="0">
                  <c:v>avg_unit_price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Sheet1!$R$17:$R$19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Sheet1!$V$17:$V$19</c:f>
              <c:numCache>
                <c:formatCode>General</c:formatCode>
                <c:ptCount val="3"/>
                <c:pt idx="0">
                  <c:v>33.454871801083399</c:v>
                </c:pt>
                <c:pt idx="1">
                  <c:v>37.326105658957403</c:v>
                </c:pt>
                <c:pt idx="2">
                  <c:v>36.272305290491303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15-4C35-8CF6-9B90C7E523A3}"/>
            </c:ext>
          </c:extLst>
        </c:ser>
        <c:ser>
          <c:idx val="2"/>
          <c:order val="1"/>
          <c:tx>
            <c:strRef>
              <c:f>Sheet1!$X$16</c:f>
              <c:strCache>
                <c:ptCount val="1"/>
                <c:pt idx="0">
                  <c:v>avg_unit_cost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Sheet1!$R$17:$R$19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Sheet1!$X$17:$X$19</c:f>
              <c:numCache>
                <c:formatCode>General</c:formatCode>
                <c:ptCount val="3"/>
                <c:pt idx="0">
                  <c:v>34.460037153588765</c:v>
                </c:pt>
                <c:pt idx="1">
                  <c:v>39.599813081629819</c:v>
                </c:pt>
                <c:pt idx="2">
                  <c:v>36.996944081760475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15-4C35-8CF6-9B90C7E523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8236192"/>
        <c:axId val="1193731440"/>
      </c:lineChart>
      <c:catAx>
        <c:axId val="93823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731440"/>
        <c:crosses val="autoZero"/>
        <c:auto val="1"/>
        <c:lblAlgn val="ctr"/>
        <c:lblOffset val="100"/>
        <c:noMultiLvlLbl val="0"/>
      </c:catAx>
      <c:valAx>
        <c:axId val="1193731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23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chemeClr val="tx1"/>
                </a:solidFill>
              </a:rPr>
              <a:t>Profitability remains unstable, with no consistent monthly pattern</a:t>
            </a:r>
            <a:endParaRPr lang="en-US" sz="18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3074426775615989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182784500322204"/>
          <c:y val="0.2048760809920834"/>
          <c:w val="0.86291289043373609"/>
          <c:h val="0.71144654450141609"/>
        </c:manualLayout>
      </c:layout>
      <c:lineChart>
        <c:grouping val="standard"/>
        <c:varyColors val="0"/>
        <c:ser>
          <c:idx val="0"/>
          <c:order val="0"/>
          <c:tx>
            <c:strRef>
              <c:f>Sheet1!$X$39</c:f>
              <c:strCache>
                <c:ptCount val="1"/>
                <c:pt idx="0">
                  <c:v>2014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Sheet1!$W$40:$W$51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Sheet1!$X$40:$X$51</c:f>
              <c:numCache>
                <c:formatCode>General</c:formatCode>
                <c:ptCount val="12"/>
                <c:pt idx="0">
                  <c:v>0.31088110623761445</c:v>
                </c:pt>
                <c:pt idx="1">
                  <c:v>-2.300695787884651</c:v>
                </c:pt>
                <c:pt idx="2">
                  <c:v>-1.6442599057883243</c:v>
                </c:pt>
                <c:pt idx="3">
                  <c:v>-0.68213299329037658</c:v>
                </c:pt>
                <c:pt idx="4">
                  <c:v>-4.1889307186891553</c:v>
                </c:pt>
                <c:pt idx="5">
                  <c:v>-2.925532676253396</c:v>
                </c:pt>
                <c:pt idx="6">
                  <c:v>-1.4428098657411985</c:v>
                </c:pt>
                <c:pt idx="7">
                  <c:v>-5.1352109162845059</c:v>
                </c:pt>
                <c:pt idx="8">
                  <c:v>-7.19710632569896</c:v>
                </c:pt>
                <c:pt idx="9">
                  <c:v>-1.9204053084751551</c:v>
                </c:pt>
                <c:pt idx="10">
                  <c:v>4.3410553721761982</c:v>
                </c:pt>
                <c:pt idx="11">
                  <c:v>-5.6837329225122861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CF-4C19-BCB1-F2B29DBA0435}"/>
            </c:ext>
          </c:extLst>
        </c:ser>
        <c:ser>
          <c:idx val="1"/>
          <c:order val="1"/>
          <c:tx>
            <c:strRef>
              <c:f>Sheet1!$Y$39</c:f>
              <c:strCache>
                <c:ptCount val="1"/>
                <c:pt idx="0">
                  <c:v>2015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Sheet1!$W$40:$W$51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Sheet1!$Y$40:$Y$51</c:f>
              <c:numCache>
                <c:formatCode>General</c:formatCode>
                <c:ptCount val="12"/>
                <c:pt idx="0">
                  <c:v>-4.1953708411201083</c:v>
                </c:pt>
                <c:pt idx="1">
                  <c:v>-5.1056025600262611</c:v>
                </c:pt>
                <c:pt idx="2">
                  <c:v>-6.2678972089817808</c:v>
                </c:pt>
                <c:pt idx="3">
                  <c:v>-5.4104625675973264</c:v>
                </c:pt>
                <c:pt idx="4">
                  <c:v>-7.0289704891637061</c:v>
                </c:pt>
                <c:pt idx="5">
                  <c:v>-3.5411329338417676</c:v>
                </c:pt>
                <c:pt idx="6">
                  <c:v>-4.1193277609057439</c:v>
                </c:pt>
                <c:pt idx="7">
                  <c:v>-7.021149946915564</c:v>
                </c:pt>
                <c:pt idx="8">
                  <c:v>-7.5932001246945839</c:v>
                </c:pt>
                <c:pt idx="9">
                  <c:v>-7.175829608382382</c:v>
                </c:pt>
                <c:pt idx="10">
                  <c:v>-9.1873795366344257</c:v>
                </c:pt>
                <c:pt idx="11">
                  <c:v>-4.8914065951475436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CF-4C19-BCB1-F2B29DBA0435}"/>
            </c:ext>
          </c:extLst>
        </c:ser>
        <c:ser>
          <c:idx val="2"/>
          <c:order val="2"/>
          <c:tx>
            <c:strRef>
              <c:f>Sheet1!$Z$39</c:f>
              <c:strCache>
                <c:ptCount val="1"/>
                <c:pt idx="0">
                  <c:v>2016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Sheet1!$W$40:$W$51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Sheet1!$Z$40:$Z$51</c:f>
              <c:numCache>
                <c:formatCode>General</c:formatCode>
                <c:ptCount val="12"/>
                <c:pt idx="0">
                  <c:v>-4.7056804124149521</c:v>
                </c:pt>
                <c:pt idx="1">
                  <c:v>5.2713284946699621E-2</c:v>
                </c:pt>
                <c:pt idx="2">
                  <c:v>1.1536638074784085</c:v>
                </c:pt>
                <c:pt idx="3">
                  <c:v>-7.0731583976238079</c:v>
                </c:pt>
                <c:pt idx="4">
                  <c:v>-3.2525181162900583</c:v>
                </c:pt>
                <c:pt idx="5">
                  <c:v>-5.8662954233559041</c:v>
                </c:pt>
                <c:pt idx="6">
                  <c:v>1.6971766332449401</c:v>
                </c:pt>
                <c:pt idx="7">
                  <c:v>-3.1417895570844165</c:v>
                </c:pt>
                <c:pt idx="8">
                  <c:v>1.5138694621548239</c:v>
                </c:pt>
                <c:pt idx="9">
                  <c:v>9.4437660468106674</c:v>
                </c:pt>
                <c:pt idx="10">
                  <c:v>6.8371119857424638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CF-4C19-BCB1-F2B29DBA0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0125584"/>
        <c:axId val="1110124624"/>
      </c:lineChart>
      <c:catAx>
        <c:axId val="1110125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124624"/>
        <c:crosses val="autoZero"/>
        <c:auto val="1"/>
        <c:lblAlgn val="ctr"/>
        <c:lblOffset val="100"/>
        <c:noMultiLvlLbl val="0"/>
      </c:catAx>
      <c:valAx>
        <c:axId val="11101246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gross</a:t>
                </a:r>
                <a:r>
                  <a:rPr lang="en-US" sz="1400" baseline="0"/>
                  <a:t> profit %</a:t>
                </a:r>
                <a:endParaRPr lang="en-US" sz="14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125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chemeClr val="tx1"/>
                </a:solidFill>
              </a:rPr>
              <a:t>Profitability stays weak because costs move too closely with price</a:t>
            </a:r>
            <a:endParaRPr lang="en-US" sz="18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7.5072787148123352E-3"/>
          <c:y val="4.490722062139571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900481189851266E-2"/>
          <c:y val="0.22335631616522039"/>
          <c:w val="0.89532174103237094"/>
          <c:h val="0.61981440941877675"/>
        </c:manualLayout>
      </c:layout>
      <c:lineChart>
        <c:grouping val="standard"/>
        <c:varyColors val="0"/>
        <c:ser>
          <c:idx val="0"/>
          <c:order val="0"/>
          <c:tx>
            <c:strRef>
              <c:f>Sheet2!$V$1</c:f>
              <c:strCache>
                <c:ptCount val="1"/>
                <c:pt idx="0">
                  <c:v>gross_profit 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Sheet2!$S$2:$S$36</c:f>
              <c:numCache>
                <c:formatCode>mmm\ yyyy</c:formatCode>
                <c:ptCount val="35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  <c:pt idx="29">
                  <c:v>42522</c:v>
                </c:pt>
                <c:pt idx="30">
                  <c:v>42552</c:v>
                </c:pt>
                <c:pt idx="31">
                  <c:v>42583</c:v>
                </c:pt>
                <c:pt idx="32">
                  <c:v>42614</c:v>
                </c:pt>
                <c:pt idx="33">
                  <c:v>42644</c:v>
                </c:pt>
                <c:pt idx="34">
                  <c:v>42675</c:v>
                </c:pt>
              </c:numCache>
            </c:numRef>
          </c:cat>
          <c:val>
            <c:numRef>
              <c:f>Sheet2!$V$2:$V$36</c:f>
              <c:numCache>
                <c:formatCode>General</c:formatCode>
                <c:ptCount val="35"/>
                <c:pt idx="0">
                  <c:v>0.31088110623761445</c:v>
                </c:pt>
                <c:pt idx="1">
                  <c:v>-2.300695787884651</c:v>
                </c:pt>
                <c:pt idx="2">
                  <c:v>-1.6442599057883243</c:v>
                </c:pt>
                <c:pt idx="3">
                  <c:v>-0.68213299329037658</c:v>
                </c:pt>
                <c:pt idx="4">
                  <c:v>-4.1889307186891553</c:v>
                </c:pt>
                <c:pt idx="5">
                  <c:v>-2.925532676253396</c:v>
                </c:pt>
                <c:pt idx="6">
                  <c:v>-1.4428098657411985</c:v>
                </c:pt>
                <c:pt idx="7">
                  <c:v>-5.1352109162845059</c:v>
                </c:pt>
                <c:pt idx="8">
                  <c:v>-7.19710632569896</c:v>
                </c:pt>
                <c:pt idx="9">
                  <c:v>-1.9204053084751551</c:v>
                </c:pt>
                <c:pt idx="10">
                  <c:v>4.3410553721761982</c:v>
                </c:pt>
                <c:pt idx="11">
                  <c:v>-5.6837329225122861</c:v>
                </c:pt>
                <c:pt idx="12">
                  <c:v>-4.1953708411201083</c:v>
                </c:pt>
                <c:pt idx="13">
                  <c:v>-5.1056025600262611</c:v>
                </c:pt>
                <c:pt idx="14">
                  <c:v>-6.2678972089817808</c:v>
                </c:pt>
                <c:pt idx="15">
                  <c:v>-5.4104625675973264</c:v>
                </c:pt>
                <c:pt idx="16">
                  <c:v>-7.0289704891637061</c:v>
                </c:pt>
                <c:pt idx="17">
                  <c:v>-3.5411329338417676</c:v>
                </c:pt>
                <c:pt idx="18">
                  <c:v>-4.1193277609057439</c:v>
                </c:pt>
                <c:pt idx="19">
                  <c:v>-7.021149946915564</c:v>
                </c:pt>
                <c:pt idx="20">
                  <c:v>-7.5932001246945839</c:v>
                </c:pt>
                <c:pt idx="21">
                  <c:v>-7.175829608382382</c:v>
                </c:pt>
                <c:pt idx="22">
                  <c:v>-9.1873795366344257</c:v>
                </c:pt>
                <c:pt idx="23">
                  <c:v>-4.8914065951475436</c:v>
                </c:pt>
                <c:pt idx="24">
                  <c:v>-4.7056804124149521</c:v>
                </c:pt>
                <c:pt idx="25">
                  <c:v>5.2713284946699621E-2</c:v>
                </c:pt>
                <c:pt idx="26">
                  <c:v>1.1536638074784085</c:v>
                </c:pt>
                <c:pt idx="27">
                  <c:v>-7.0731583976238079</c:v>
                </c:pt>
                <c:pt idx="28">
                  <c:v>-3.2525181162900583</c:v>
                </c:pt>
                <c:pt idx="29">
                  <c:v>-5.8662954233559041</c:v>
                </c:pt>
                <c:pt idx="30">
                  <c:v>1.6971766332449401</c:v>
                </c:pt>
                <c:pt idx="31">
                  <c:v>-3.1417895570844165</c:v>
                </c:pt>
                <c:pt idx="32">
                  <c:v>1.5138694621548239</c:v>
                </c:pt>
                <c:pt idx="33">
                  <c:v>9.4437660468106674</c:v>
                </c:pt>
                <c:pt idx="34">
                  <c:v>6.8371119857424638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AD-4CAA-9D3A-370A488D098D}"/>
            </c:ext>
          </c:extLst>
        </c:ser>
        <c:ser>
          <c:idx val="1"/>
          <c:order val="1"/>
          <c:tx>
            <c:strRef>
              <c:f>Sheet2!$X$1</c:f>
              <c:strCache>
                <c:ptCount val="1"/>
                <c:pt idx="0">
                  <c:v>avg_unit_costs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Sheet2!$S$2:$S$36</c:f>
              <c:numCache>
                <c:formatCode>mmm\ yyyy</c:formatCode>
                <c:ptCount val="35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  <c:pt idx="29">
                  <c:v>42522</c:v>
                </c:pt>
                <c:pt idx="30">
                  <c:v>42552</c:v>
                </c:pt>
                <c:pt idx="31">
                  <c:v>42583</c:v>
                </c:pt>
                <c:pt idx="32">
                  <c:v>42614</c:v>
                </c:pt>
                <c:pt idx="33">
                  <c:v>42644</c:v>
                </c:pt>
                <c:pt idx="34">
                  <c:v>42675</c:v>
                </c:pt>
              </c:numCache>
            </c:numRef>
          </c:cat>
          <c:val>
            <c:numRef>
              <c:f>Sheet2!$X$2:$X$36</c:f>
              <c:numCache>
                <c:formatCode>General</c:formatCode>
                <c:ptCount val="35"/>
                <c:pt idx="0">
                  <c:v>33.307379593787772</c:v>
                </c:pt>
                <c:pt idx="1">
                  <c:v>33.215259003672031</c:v>
                </c:pt>
                <c:pt idx="2">
                  <c:v>33.285030427332345</c:v>
                </c:pt>
                <c:pt idx="3">
                  <c:v>34.087061386059837</c:v>
                </c:pt>
                <c:pt idx="4">
                  <c:v>34.001181021330147</c:v>
                </c:pt>
                <c:pt idx="5">
                  <c:v>33.420214710665199</c:v>
                </c:pt>
                <c:pt idx="6">
                  <c:v>33.943227033160618</c:v>
                </c:pt>
                <c:pt idx="7">
                  <c:v>33.88725427899972</c:v>
                </c:pt>
                <c:pt idx="8">
                  <c:v>34.464083176300356</c:v>
                </c:pt>
                <c:pt idx="9">
                  <c:v>35.166830423310657</c:v>
                </c:pt>
                <c:pt idx="10">
                  <c:v>36.709370733084633</c:v>
                </c:pt>
                <c:pt idx="11">
                  <c:v>41.614983749614339</c:v>
                </c:pt>
                <c:pt idx="12">
                  <c:v>41.980166392454215</c:v>
                </c:pt>
                <c:pt idx="13">
                  <c:v>40.325912142229534</c:v>
                </c:pt>
                <c:pt idx="14">
                  <c:v>40.971009270302105</c:v>
                </c:pt>
                <c:pt idx="15">
                  <c:v>40.901703356982992</c:v>
                </c:pt>
                <c:pt idx="16">
                  <c:v>40.646367943890837</c:v>
                </c:pt>
                <c:pt idx="17">
                  <c:v>40.42235259548363</c:v>
                </c:pt>
                <c:pt idx="18">
                  <c:v>40.054273870619767</c:v>
                </c:pt>
                <c:pt idx="19">
                  <c:v>38.668191128505583</c:v>
                </c:pt>
                <c:pt idx="20">
                  <c:v>37.263471444920533</c:v>
                </c:pt>
                <c:pt idx="21">
                  <c:v>38.244074408566597</c:v>
                </c:pt>
                <c:pt idx="22">
                  <c:v>38.408082407609164</c:v>
                </c:pt>
                <c:pt idx="23">
                  <c:v>38.190373976421668</c:v>
                </c:pt>
                <c:pt idx="24">
                  <c:v>37.575087065001895</c:v>
                </c:pt>
                <c:pt idx="25">
                  <c:v>36.764445928735242</c:v>
                </c:pt>
                <c:pt idx="26">
                  <c:v>39.331421314745299</c:v>
                </c:pt>
                <c:pt idx="27">
                  <c:v>37.46803649105054</c:v>
                </c:pt>
                <c:pt idx="28">
                  <c:v>36.489867307973313</c:v>
                </c:pt>
                <c:pt idx="29">
                  <c:v>36.301139356050825</c:v>
                </c:pt>
                <c:pt idx="30">
                  <c:v>36.053933810450289</c:v>
                </c:pt>
                <c:pt idx="31">
                  <c:v>36.238079856350296</c:v>
                </c:pt>
                <c:pt idx="32">
                  <c:v>36.203055044151476</c:v>
                </c:pt>
                <c:pt idx="33">
                  <c:v>37.221153122353044</c:v>
                </c:pt>
                <c:pt idx="34">
                  <c:v>40.004474331315102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AD-4CAA-9D3A-370A488D098D}"/>
            </c:ext>
          </c:extLst>
        </c:ser>
        <c:ser>
          <c:idx val="2"/>
          <c:order val="2"/>
          <c:tx>
            <c:strRef>
              <c:f>Sheet2!$Y$1</c:f>
              <c:strCache>
                <c:ptCount val="1"/>
                <c:pt idx="0">
                  <c:v>avg_unit_price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Sheet2!$S$2:$S$36</c:f>
              <c:numCache>
                <c:formatCode>mmm\ yyyy</c:formatCode>
                <c:ptCount val="35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  <c:pt idx="29">
                  <c:v>42522</c:v>
                </c:pt>
                <c:pt idx="30">
                  <c:v>42552</c:v>
                </c:pt>
                <c:pt idx="31">
                  <c:v>42583</c:v>
                </c:pt>
                <c:pt idx="32">
                  <c:v>42614</c:v>
                </c:pt>
                <c:pt idx="33">
                  <c:v>42644</c:v>
                </c:pt>
                <c:pt idx="34">
                  <c:v>42675</c:v>
                </c:pt>
              </c:numCache>
            </c:numRef>
          </c:cat>
          <c:val>
            <c:numRef>
              <c:f>Sheet2!$Y$2:$Y$36</c:f>
              <c:numCache>
                <c:formatCode>General</c:formatCode>
                <c:ptCount val="35"/>
                <c:pt idx="0">
                  <c:v>33.411248853832397</c:v>
                </c:pt>
                <c:pt idx="1">
                  <c:v>32.468263043432501</c:v>
                </c:pt>
                <c:pt idx="2">
                  <c:v>32.746591355166998</c:v>
                </c:pt>
                <c:pt idx="3">
                  <c:v>33.856117637407898</c:v>
                </c:pt>
                <c:pt idx="4">
                  <c:v>32.634158721844997</c:v>
                </c:pt>
                <c:pt idx="5">
                  <c:v>32.470285886969002</c:v>
                </c:pt>
                <c:pt idx="6">
                  <c:v>33.460456268989603</c:v>
                </c:pt>
                <c:pt idx="7">
                  <c:v>32.2320695261485</c:v>
                </c:pt>
                <c:pt idx="8">
                  <c:v>32.1501991589097</c:v>
                </c:pt>
                <c:pt idx="9">
                  <c:v>34.504209747669002</c:v>
                </c:pt>
                <c:pt idx="10">
                  <c:v>38.375262110520097</c:v>
                </c:pt>
                <c:pt idx="11">
                  <c:v>39.376905602044403</c:v>
                </c:pt>
                <c:pt idx="12">
                  <c:v>40.2898574606224</c:v>
                </c:pt>
                <c:pt idx="13">
                  <c:v>38.367043392572</c:v>
                </c:pt>
                <c:pt idx="14">
                  <c:v>38.554455622407097</c:v>
                </c:pt>
                <c:pt idx="15">
                  <c:v>38.802318442302301</c:v>
                </c:pt>
                <c:pt idx="16">
                  <c:v>37.976977409126903</c:v>
                </c:pt>
                <c:pt idx="17">
                  <c:v>39.039897913143101</c:v>
                </c:pt>
                <c:pt idx="18">
                  <c:v>38.469585553412699</c:v>
                </c:pt>
                <c:pt idx="19">
                  <c:v>36.131354547849398</c:v>
                </c:pt>
                <c:pt idx="20">
                  <c:v>34.633667742695799</c:v>
                </c:pt>
                <c:pt idx="21">
                  <c:v>35.683488103903102</c:v>
                </c:pt>
                <c:pt idx="22">
                  <c:v>35.176302032894299</c:v>
                </c:pt>
                <c:pt idx="23">
                  <c:v>36.409440216419398</c:v>
                </c:pt>
                <c:pt idx="24">
                  <c:v>35.8863883191447</c:v>
                </c:pt>
                <c:pt idx="25">
                  <c:v>36.783835896965897</c:v>
                </c:pt>
                <c:pt idx="26">
                  <c:v>39.790469560895097</c:v>
                </c:pt>
                <c:pt idx="27">
                  <c:v>34.992931049918496</c:v>
                </c:pt>
                <c:pt idx="28">
                  <c:v>35.340413942133502</c:v>
                </c:pt>
                <c:pt idx="29">
                  <c:v>34.289609559760002</c:v>
                </c:pt>
                <c:pt idx="30">
                  <c:v>36.676397051118002</c:v>
                </c:pt>
                <c:pt idx="31">
                  <c:v>35.134236095733101</c:v>
                </c:pt>
                <c:pt idx="32">
                  <c:v>36.7595465944718</c:v>
                </c:pt>
                <c:pt idx="33">
                  <c:v>41.102805955461299</c:v>
                </c:pt>
                <c:pt idx="34">
                  <c:v>42.9403544522931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AD-4CAA-9D3A-370A488D09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5121952"/>
        <c:axId val="285120992"/>
      </c:lineChart>
      <c:dateAx>
        <c:axId val="285121952"/>
        <c:scaling>
          <c:orientation val="minMax"/>
        </c:scaling>
        <c:delete val="0"/>
        <c:axPos val="b"/>
        <c:numFmt formatCode="mmm\ 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5120992"/>
        <c:crosses val="autoZero"/>
        <c:auto val="1"/>
        <c:lblOffset val="100"/>
        <c:baseTimeUnit val="months"/>
      </c:dateAx>
      <c:valAx>
        <c:axId val="285120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5121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b="1" i="0" u="none" strike="noStrike" baseline="0">
                <a:solidFill>
                  <a:schemeClr val="tx1"/>
                </a:solidFill>
              </a:rPr>
              <a:t>Increasing quantity reduces gross profit</a:t>
            </a:r>
            <a:r>
              <a:rPr lang="en-US" sz="2000" b="0" i="0" u="none" strike="noStrike" baseline="0">
                <a:solidFill>
                  <a:schemeClr val="tx1"/>
                </a:solidFill>
              </a:rPr>
              <a:t> </a:t>
            </a:r>
            <a:endParaRPr lang="en-US" sz="20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739608130379317E-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11243362021608"/>
          <c:y val="0.1591994684812518"/>
          <c:w val="0.81902508698040655"/>
          <c:h val="0.51150565620614774"/>
        </c:manualLayout>
      </c:layout>
      <c:lineChart>
        <c:grouping val="standard"/>
        <c:varyColors val="0"/>
        <c:ser>
          <c:idx val="1"/>
          <c:order val="1"/>
          <c:tx>
            <c:strRef>
              <c:f>Sheet1!$O$39</c:f>
              <c:strCache>
                <c:ptCount val="1"/>
                <c:pt idx="0">
                  <c:v>total_quantity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Sheet1!$K$40:$K$74</c:f>
              <c:strCache>
                <c:ptCount val="35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  <c:pt idx="12">
                  <c:v>January</c:v>
                </c:pt>
                <c:pt idx="13">
                  <c:v>February</c:v>
                </c:pt>
                <c:pt idx="14">
                  <c:v>March</c:v>
                </c:pt>
                <c:pt idx="15">
                  <c:v>April</c:v>
                </c:pt>
                <c:pt idx="16">
                  <c:v>May</c:v>
                </c:pt>
                <c:pt idx="17">
                  <c:v>June</c:v>
                </c:pt>
                <c:pt idx="18">
                  <c:v>July</c:v>
                </c:pt>
                <c:pt idx="19">
                  <c:v>August</c:v>
                </c:pt>
                <c:pt idx="20">
                  <c:v>September</c:v>
                </c:pt>
                <c:pt idx="21">
                  <c:v>October</c:v>
                </c:pt>
                <c:pt idx="22">
                  <c:v>November</c:v>
                </c:pt>
                <c:pt idx="23">
                  <c:v>December</c:v>
                </c:pt>
                <c:pt idx="24">
                  <c:v>January</c:v>
                </c:pt>
                <c:pt idx="25">
                  <c:v>February</c:v>
                </c:pt>
                <c:pt idx="26">
                  <c:v>March</c:v>
                </c:pt>
                <c:pt idx="27">
                  <c:v>April</c:v>
                </c:pt>
                <c:pt idx="28">
                  <c:v>May</c:v>
                </c:pt>
                <c:pt idx="29">
                  <c:v>June</c:v>
                </c:pt>
                <c:pt idx="30">
                  <c:v>July</c:v>
                </c:pt>
                <c:pt idx="31">
                  <c:v>August</c:v>
                </c:pt>
                <c:pt idx="32">
                  <c:v>September</c:v>
                </c:pt>
                <c:pt idx="33">
                  <c:v>October</c:v>
                </c:pt>
                <c:pt idx="34">
                  <c:v>November</c:v>
                </c:pt>
              </c:strCache>
            </c:strRef>
          </c:cat>
          <c:val>
            <c:numRef>
              <c:f>Sheet1!$O$40:$O$74</c:f>
              <c:numCache>
                <c:formatCode>General</c:formatCode>
                <c:ptCount val="35"/>
                <c:pt idx="0">
                  <c:v>119965</c:v>
                </c:pt>
                <c:pt idx="1">
                  <c:v>178035</c:v>
                </c:pt>
                <c:pt idx="2">
                  <c:v>252836</c:v>
                </c:pt>
                <c:pt idx="3">
                  <c:v>190091</c:v>
                </c:pt>
                <c:pt idx="4">
                  <c:v>235793</c:v>
                </c:pt>
                <c:pt idx="5">
                  <c:v>198857</c:v>
                </c:pt>
                <c:pt idx="6">
                  <c:v>147449</c:v>
                </c:pt>
                <c:pt idx="7">
                  <c:v>310572</c:v>
                </c:pt>
                <c:pt idx="8">
                  <c:v>237742</c:v>
                </c:pt>
                <c:pt idx="9">
                  <c:v>171709</c:v>
                </c:pt>
                <c:pt idx="10">
                  <c:v>68569</c:v>
                </c:pt>
                <c:pt idx="11">
                  <c:v>142612</c:v>
                </c:pt>
                <c:pt idx="12">
                  <c:v>91740</c:v>
                </c:pt>
                <c:pt idx="13">
                  <c:v>127753</c:v>
                </c:pt>
                <c:pt idx="14">
                  <c:v>136673</c:v>
                </c:pt>
                <c:pt idx="15">
                  <c:v>153702</c:v>
                </c:pt>
                <c:pt idx="16">
                  <c:v>220775</c:v>
                </c:pt>
                <c:pt idx="17">
                  <c:v>136581</c:v>
                </c:pt>
                <c:pt idx="18">
                  <c:v>95600</c:v>
                </c:pt>
                <c:pt idx="19">
                  <c:v>108899</c:v>
                </c:pt>
                <c:pt idx="20">
                  <c:v>134837</c:v>
                </c:pt>
                <c:pt idx="21">
                  <c:v>135328</c:v>
                </c:pt>
                <c:pt idx="22">
                  <c:v>185868</c:v>
                </c:pt>
                <c:pt idx="23">
                  <c:v>187333</c:v>
                </c:pt>
                <c:pt idx="24">
                  <c:v>150561</c:v>
                </c:pt>
                <c:pt idx="25">
                  <c:v>132990</c:v>
                </c:pt>
                <c:pt idx="26">
                  <c:v>74185</c:v>
                </c:pt>
                <c:pt idx="27">
                  <c:v>190235</c:v>
                </c:pt>
                <c:pt idx="28">
                  <c:v>146298</c:v>
                </c:pt>
                <c:pt idx="29">
                  <c:v>197469</c:v>
                </c:pt>
                <c:pt idx="30">
                  <c:v>90653</c:v>
                </c:pt>
                <c:pt idx="31">
                  <c:v>123621</c:v>
                </c:pt>
                <c:pt idx="32">
                  <c:v>88672</c:v>
                </c:pt>
                <c:pt idx="33">
                  <c:v>56667</c:v>
                </c:pt>
                <c:pt idx="34">
                  <c:v>43107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D9-409E-ACAD-286B32DA48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3076480"/>
        <c:axId val="1193076000"/>
      </c:lineChart>
      <c:lineChart>
        <c:grouping val="standard"/>
        <c:varyColors val="0"/>
        <c:ser>
          <c:idx val="0"/>
          <c:order val="0"/>
          <c:tx>
            <c:strRef>
              <c:f>Sheet1!$N$39</c:f>
              <c:strCache>
                <c:ptCount val="1"/>
                <c:pt idx="0">
                  <c:v>gross_profit 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Sheet1!$K$40:$K$74</c:f>
              <c:strCache>
                <c:ptCount val="35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  <c:pt idx="12">
                  <c:v>January</c:v>
                </c:pt>
                <c:pt idx="13">
                  <c:v>February</c:v>
                </c:pt>
                <c:pt idx="14">
                  <c:v>March</c:v>
                </c:pt>
                <c:pt idx="15">
                  <c:v>April</c:v>
                </c:pt>
                <c:pt idx="16">
                  <c:v>May</c:v>
                </c:pt>
                <c:pt idx="17">
                  <c:v>June</c:v>
                </c:pt>
                <c:pt idx="18">
                  <c:v>July</c:v>
                </c:pt>
                <c:pt idx="19">
                  <c:v>August</c:v>
                </c:pt>
                <c:pt idx="20">
                  <c:v>September</c:v>
                </c:pt>
                <c:pt idx="21">
                  <c:v>October</c:v>
                </c:pt>
                <c:pt idx="22">
                  <c:v>November</c:v>
                </c:pt>
                <c:pt idx="23">
                  <c:v>December</c:v>
                </c:pt>
                <c:pt idx="24">
                  <c:v>January</c:v>
                </c:pt>
                <c:pt idx="25">
                  <c:v>February</c:v>
                </c:pt>
                <c:pt idx="26">
                  <c:v>March</c:v>
                </c:pt>
                <c:pt idx="27">
                  <c:v>April</c:v>
                </c:pt>
                <c:pt idx="28">
                  <c:v>May</c:v>
                </c:pt>
                <c:pt idx="29">
                  <c:v>June</c:v>
                </c:pt>
                <c:pt idx="30">
                  <c:v>July</c:v>
                </c:pt>
                <c:pt idx="31">
                  <c:v>August</c:v>
                </c:pt>
                <c:pt idx="32">
                  <c:v>September</c:v>
                </c:pt>
                <c:pt idx="33">
                  <c:v>October</c:v>
                </c:pt>
                <c:pt idx="34">
                  <c:v>November</c:v>
                </c:pt>
              </c:strCache>
            </c:strRef>
          </c:cat>
          <c:val>
            <c:numRef>
              <c:f>Sheet1!$N$40:$N$74</c:f>
              <c:numCache>
                <c:formatCode>General</c:formatCode>
                <c:ptCount val="35"/>
                <c:pt idx="0">
                  <c:v>0.31088110623761445</c:v>
                </c:pt>
                <c:pt idx="1">
                  <c:v>-2.300695787884651</c:v>
                </c:pt>
                <c:pt idx="2">
                  <c:v>-1.6442599057883243</c:v>
                </c:pt>
                <c:pt idx="3">
                  <c:v>-0.68213299329037658</c:v>
                </c:pt>
                <c:pt idx="4">
                  <c:v>-4.1889307186891553</c:v>
                </c:pt>
                <c:pt idx="5">
                  <c:v>-2.925532676253396</c:v>
                </c:pt>
                <c:pt idx="6">
                  <c:v>-1.4428098657411985</c:v>
                </c:pt>
                <c:pt idx="7">
                  <c:v>-5.1352109162845059</c:v>
                </c:pt>
                <c:pt idx="8">
                  <c:v>-7.19710632569896</c:v>
                </c:pt>
                <c:pt idx="9">
                  <c:v>-1.9204053084751551</c:v>
                </c:pt>
                <c:pt idx="10">
                  <c:v>4.3410553721761982</c:v>
                </c:pt>
                <c:pt idx="11">
                  <c:v>-5.6837329225122861</c:v>
                </c:pt>
                <c:pt idx="12">
                  <c:v>-4.1953708411201083</c:v>
                </c:pt>
                <c:pt idx="13">
                  <c:v>-5.1056025600262611</c:v>
                </c:pt>
                <c:pt idx="14">
                  <c:v>-6.2678972089817808</c:v>
                </c:pt>
                <c:pt idx="15">
                  <c:v>-5.4104625675973264</c:v>
                </c:pt>
                <c:pt idx="16">
                  <c:v>-7.0289704891637061</c:v>
                </c:pt>
                <c:pt idx="17">
                  <c:v>-3.5411329338417676</c:v>
                </c:pt>
                <c:pt idx="18">
                  <c:v>-4.1193277609057439</c:v>
                </c:pt>
                <c:pt idx="19">
                  <c:v>-7.021149946915564</c:v>
                </c:pt>
                <c:pt idx="20">
                  <c:v>-7.5932001246945839</c:v>
                </c:pt>
                <c:pt idx="21">
                  <c:v>-7.175829608382382</c:v>
                </c:pt>
                <c:pt idx="22">
                  <c:v>-9.1873795366344257</c:v>
                </c:pt>
                <c:pt idx="23">
                  <c:v>-4.8914065951475436</c:v>
                </c:pt>
                <c:pt idx="24">
                  <c:v>-4.7056804124149521</c:v>
                </c:pt>
                <c:pt idx="25">
                  <c:v>5.2713284946699621E-2</c:v>
                </c:pt>
                <c:pt idx="26">
                  <c:v>1.1536638074784085</c:v>
                </c:pt>
                <c:pt idx="27">
                  <c:v>-7.0731583976238079</c:v>
                </c:pt>
                <c:pt idx="28">
                  <c:v>-3.2525181162900583</c:v>
                </c:pt>
                <c:pt idx="29">
                  <c:v>-5.8662954233559041</c:v>
                </c:pt>
                <c:pt idx="30">
                  <c:v>1.6971766332449401</c:v>
                </c:pt>
                <c:pt idx="31">
                  <c:v>-3.1417895570844165</c:v>
                </c:pt>
                <c:pt idx="32">
                  <c:v>1.5138694621548239</c:v>
                </c:pt>
                <c:pt idx="33">
                  <c:v>9.4437660468106674</c:v>
                </c:pt>
                <c:pt idx="34">
                  <c:v>6.8371119857424638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D9-409E-ACAD-286B32DA48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7811632"/>
        <c:axId val="1227806352"/>
      </c:lineChart>
      <c:catAx>
        <c:axId val="1193076480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mm\ 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076000"/>
        <c:crosses val="autoZero"/>
        <c:auto val="1"/>
        <c:lblAlgn val="ctr"/>
        <c:lblOffset val="100"/>
        <c:noMultiLvlLbl val="0"/>
      </c:catAx>
      <c:valAx>
        <c:axId val="11930760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quantity</a:t>
                </a:r>
              </a:p>
            </c:rich>
          </c:tx>
          <c:layout>
            <c:manualLayout>
              <c:xMode val="edge"/>
              <c:yMode val="edge"/>
              <c:x val="6.9767441860465115E-3"/>
              <c:y val="0.327145085803432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3076480"/>
        <c:crosses val="autoZero"/>
        <c:crossBetween val="between"/>
      </c:valAx>
      <c:valAx>
        <c:axId val="122780635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Gross</a:t>
                </a:r>
                <a:r>
                  <a:rPr lang="en-US" sz="1400" baseline="0" dirty="0"/>
                  <a:t> profit %</a:t>
                </a:r>
                <a:endParaRPr lang="en-US" sz="14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7811632"/>
        <c:crosses val="max"/>
        <c:crossBetween val="between"/>
      </c:valAx>
      <c:catAx>
        <c:axId val="12278116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278063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4DCA1-2DE6-49E6-BC1B-55F8F6EA466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4C298-3F39-4CD5-AD9B-B61488104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0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4C298-3F39-4CD5-AD9B-B61488104F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4C298-3F39-4CD5-AD9B-B61488104F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6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64F0-02B0-2522-AC1E-236D1C79C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774D2-0BA9-349C-1B44-36599950C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5B7D9-6EC9-DD8A-1303-0F03EB68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11AF6-1B10-D881-484D-180F1E02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0CD11-B3DC-0D12-2A50-E00E696B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9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4B60-32C7-DEEB-B266-B56B490E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225C-1E2C-5334-71CE-8D91E5547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6FE06-2899-3A23-7604-53801FD1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7E13-1C50-51C0-20F4-7574237F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A4E-1805-2453-A703-89552B34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7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6660-BFB9-B582-B34C-065E3A1BC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CFF5F-3A50-D853-1A53-3904552BE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295E9-06E4-A433-3EC0-1F3B4F19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3D6D1-A999-925B-3DEE-675FA315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BF1C3-E1A9-6728-59F4-A8B22B9E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C77B-F94C-3AC0-3DCB-C8447DB9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94DB-DF6C-24E5-A31A-9114DF7F9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E8966-4506-F69D-2244-F43018318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53C1A-CE26-E86C-203B-73BFE27A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C446F-C768-C4E7-5A07-710B0F8B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5A751-224E-401D-8AF2-AB8C4111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775D-9681-DD88-8277-277371A2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F0DE-4923-BCF9-7F40-09CBABB1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3EA68-6844-B1E0-8E5E-EFEB9C8BB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20BCE-93A5-52B0-4B9E-B4245741E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32A1E-889B-8661-EA16-12E436440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720FF-2FF4-4FD9-3A27-EB76D145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FB2B6-A004-EB1A-5C89-981519F7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50AC0-B818-569E-30F2-0DF289E4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1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8663-AB9F-7A7B-4522-AD0FE99F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8D90-D866-80B9-FD77-6BC5ACBB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B39BE-DAE4-3C6C-46E3-5D2944AE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B3F72-167D-4096-DCDD-B9A9E14F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9FE57-A1C9-41FC-56EA-15CB5C68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E198F-E5C0-2BDD-F009-279FF87A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608F2-F1E0-266F-DAA7-85A41E6C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7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9619-D1E5-412B-7AD1-9BF44ECE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693C7-33C5-6D4C-2CFD-2841F483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92FEA-7183-E2E7-79DA-6AA48CBD9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138A1-1F94-42FF-0F02-E2D11058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89F32-B23E-D366-8F65-25740913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1B64-CCFB-020D-CEAB-78C321C7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1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755-6541-0856-71F3-69FBB876A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1336A-1072-5392-1D9D-BE88FE85A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727C3-D27F-EB58-4413-F67F2CC50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646A2-66CA-CB1B-8621-9721D2AA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C5E47-498F-0EA7-DFBA-8100BF17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D1E69-4190-3D94-B37B-4E034D3F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4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251D-D23F-E17A-A942-B30BE78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750FB-9A56-2021-7A69-C9A504663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5C9AD-0C9A-C38B-2619-D1A2299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5E6C8-4FD5-C81F-6EBD-4448D4EC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57791-E7A4-DA0C-250F-738283E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4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D546F-78C9-7676-FFA4-4E8C123FD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1AF9D-D039-456F-90A2-F1518DAB0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4CA94-1486-5E35-166B-6CF4263C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15DD-946E-801B-6ABA-25BF744F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C4B3-3554-7311-AC26-121FCD38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DB4FB-A552-020B-AAA3-A994C0D4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C57A4-81AF-15B4-2577-17CDF5FBE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094A-0A1C-9AD7-73A4-1B56267B3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27758-09C4-4682-9186-4B2C702455C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B7394-8010-D5AA-EDFB-3B4953BE3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5A17D-4D41-9E70-B8BD-73B1033E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34649-B663-4C45-8C4E-1FE3E0307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8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7A558-D4F7-A176-BFDC-E2C5ED8C2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023" y="-242"/>
            <a:ext cx="12330023" cy="685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3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095935-1338-FFB0-5133-083512D62DA5}"/>
              </a:ext>
            </a:extLst>
          </p:cNvPr>
          <p:cNvSpPr txBox="1"/>
          <p:nvPr/>
        </p:nvSpPr>
        <p:spPr>
          <a:xfrm>
            <a:off x="0" y="6012611"/>
            <a:ext cx="11451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Demand appears price sensitive: the 2015 price jump drove a sharp volume drop, and the continued decline in 2016 despite lower prices suggests a lag effect or customer loss.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1E1087-3A38-4F7A-B2F9-1058F26A5F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1471958"/>
              </p:ext>
            </p:extLst>
          </p:nvPr>
        </p:nvGraphicFramePr>
        <p:xfrm>
          <a:off x="0" y="845389"/>
          <a:ext cx="5569788" cy="4810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4A3D75D-1B81-4D63-9961-3FCED3603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519131"/>
              </p:ext>
            </p:extLst>
          </p:nvPr>
        </p:nvGraphicFramePr>
        <p:xfrm>
          <a:off x="6096000" y="845389"/>
          <a:ext cx="6096001" cy="4641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F9A4D3-1B62-ACF5-85A2-3D6AFA8EDD19}"/>
              </a:ext>
            </a:extLst>
          </p:cNvPr>
          <p:cNvSpPr txBox="1"/>
          <p:nvPr/>
        </p:nvSpPr>
        <p:spPr>
          <a:xfrm>
            <a:off x="0" y="0"/>
            <a:ext cx="7211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Price and Volume Trends (2014–2016)</a:t>
            </a:r>
          </a:p>
        </p:txBody>
      </p:sp>
    </p:spTree>
    <p:extLst>
      <p:ext uri="{BB962C8B-B14F-4D97-AF65-F5344CB8AC3E}">
        <p14:creationId xmlns:p14="http://schemas.microsoft.com/office/powerpoint/2010/main" val="112661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6A5532C-3D19-4D18-A287-B3B6052E93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1128496"/>
              </p:ext>
            </p:extLst>
          </p:nvPr>
        </p:nvGraphicFramePr>
        <p:xfrm>
          <a:off x="5607170" y="1086928"/>
          <a:ext cx="6584830" cy="5072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85825A-7B55-4F76-812F-4D8188804A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101033"/>
              </p:ext>
            </p:extLst>
          </p:nvPr>
        </p:nvGraphicFramePr>
        <p:xfrm>
          <a:off x="0" y="1086928"/>
          <a:ext cx="5341257" cy="5072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A3BA9C-529C-C4A6-F42A-F329CF9D33F9}"/>
              </a:ext>
            </a:extLst>
          </p:cNvPr>
          <p:cNvSpPr txBox="1"/>
          <p:nvPr/>
        </p:nvSpPr>
        <p:spPr>
          <a:xfrm>
            <a:off x="0" y="0"/>
            <a:ext cx="7211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Seasonal price patterns and demand </a:t>
            </a:r>
            <a:r>
              <a:rPr lang="en-US" sz="2800" b="1" i="1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76555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8394202-F587-456C-82DC-5A2064F4C0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862217"/>
              </p:ext>
            </p:extLst>
          </p:nvPr>
        </p:nvGraphicFramePr>
        <p:xfrm>
          <a:off x="7307" y="776375"/>
          <a:ext cx="5842000" cy="4968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865977A-73DB-4C3F-AA9F-2C890EE5B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0732122"/>
              </p:ext>
            </p:extLst>
          </p:nvPr>
        </p:nvGraphicFramePr>
        <p:xfrm>
          <a:off x="6088693" y="776375"/>
          <a:ext cx="6096000" cy="4968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6E6014-38E9-DF0B-E2C5-19892D3D4F12}"/>
              </a:ext>
            </a:extLst>
          </p:cNvPr>
          <p:cNvSpPr txBox="1"/>
          <p:nvPr/>
        </p:nvSpPr>
        <p:spPr>
          <a:xfrm>
            <a:off x="0" y="6132987"/>
            <a:ext cx="10883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Margins remain negative because unit costs exceed selling prices every year, with losses peaking in 2015.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BDBCA-9DB6-3BCE-38AC-60D216B01505}"/>
              </a:ext>
            </a:extLst>
          </p:cNvPr>
          <p:cNvSpPr txBox="1"/>
          <p:nvPr/>
        </p:nvSpPr>
        <p:spPr>
          <a:xfrm>
            <a:off x="7307" y="28478"/>
            <a:ext cx="6124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Margins and cost–price trends</a:t>
            </a:r>
          </a:p>
        </p:txBody>
      </p:sp>
    </p:spTree>
    <p:extLst>
      <p:ext uri="{BB962C8B-B14F-4D97-AF65-F5344CB8AC3E}">
        <p14:creationId xmlns:p14="http://schemas.microsoft.com/office/powerpoint/2010/main" val="322724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3DFF91-82E3-4F5E-967A-2E536D2DD4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724454"/>
              </p:ext>
            </p:extLst>
          </p:nvPr>
        </p:nvGraphicFramePr>
        <p:xfrm>
          <a:off x="0" y="0"/>
          <a:ext cx="5530644" cy="5141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E92B3E9-B869-4BCC-BC3B-17B8D6D1EB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596861"/>
              </p:ext>
            </p:extLst>
          </p:nvPr>
        </p:nvGraphicFramePr>
        <p:xfrm>
          <a:off x="5791200" y="0"/>
          <a:ext cx="6241143" cy="5656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A08438-C389-4514-A626-B6D4D0B15FA2}"/>
              </a:ext>
            </a:extLst>
          </p:cNvPr>
          <p:cNvSpPr txBox="1"/>
          <p:nvPr/>
        </p:nvSpPr>
        <p:spPr>
          <a:xfrm>
            <a:off x="159657" y="5656106"/>
            <a:ext cx="11872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Margins peak when price pulls ahead of cost (Nov 2014 and Oct 2016), showing profitability depends on a clear price–cost gap. Therefore, margins should be strengthened by reducing costs or maintaining pricing discipline to preserve that gap</a:t>
            </a:r>
          </a:p>
        </p:txBody>
      </p:sp>
    </p:spTree>
    <p:extLst>
      <p:ext uri="{BB962C8B-B14F-4D97-AF65-F5344CB8AC3E}">
        <p14:creationId xmlns:p14="http://schemas.microsoft.com/office/powerpoint/2010/main" val="2991053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DBF6DA-2A6B-CAED-48C2-99BA7D0AA9E8}"/>
              </a:ext>
            </a:extLst>
          </p:cNvPr>
          <p:cNvSpPr txBox="1"/>
          <p:nvPr/>
        </p:nvSpPr>
        <p:spPr>
          <a:xfrm>
            <a:off x="0" y="5925731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Sales growth is driven by low-margin volume, spikes in quantity reduce  gross profit %, indicating that increased sales come at the expense of profitability.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AEFCB98-C99D-476E-9A94-9CDDB7031A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921122"/>
              </p:ext>
            </p:extLst>
          </p:nvPr>
        </p:nvGraphicFramePr>
        <p:xfrm>
          <a:off x="635000" y="823371"/>
          <a:ext cx="10922000" cy="5102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731F6A-DDD4-90D6-12B6-95A0E8FA6FD5}"/>
              </a:ext>
            </a:extLst>
          </p:cNvPr>
          <p:cNvSpPr txBox="1"/>
          <p:nvPr/>
        </p:nvSpPr>
        <p:spPr>
          <a:xfrm>
            <a:off x="0" y="0"/>
            <a:ext cx="61333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/>
              <a:t>Volume and Profit Overview</a:t>
            </a:r>
          </a:p>
        </p:txBody>
      </p:sp>
    </p:spTree>
    <p:extLst>
      <p:ext uri="{BB962C8B-B14F-4D97-AF65-F5344CB8AC3E}">
        <p14:creationId xmlns:p14="http://schemas.microsoft.com/office/powerpoint/2010/main" val="404767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B65925-D471-25B1-4F81-2781B4851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76979"/>
              </p:ext>
            </p:extLst>
          </p:nvPr>
        </p:nvGraphicFramePr>
        <p:xfrm>
          <a:off x="241539" y="847973"/>
          <a:ext cx="9230265" cy="1909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8166">
                  <a:extLst>
                    <a:ext uri="{9D8B030D-6E8A-4147-A177-3AD203B41FA5}">
                      <a16:colId xmlns:a16="http://schemas.microsoft.com/office/drawing/2014/main" val="32521463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740692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0040966"/>
                    </a:ext>
                  </a:extLst>
                </a:gridCol>
                <a:gridCol w="3138099">
                  <a:extLst>
                    <a:ext uri="{9D8B030D-6E8A-4147-A177-3AD203B41FA5}">
                      <a16:colId xmlns:a16="http://schemas.microsoft.com/office/drawing/2014/main" val="2083017837"/>
                    </a:ext>
                  </a:extLst>
                </a:gridCol>
              </a:tblGrid>
              <a:tr h="5407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Promotional period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%Δ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l-GR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%Δ </a:t>
                      </a: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Quantity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Price Elasticity (PED)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55557"/>
                  </a:ext>
                </a:extLst>
              </a:tr>
              <a:tr h="323876">
                <a:tc>
                  <a:txBody>
                    <a:bodyPr/>
                    <a:lstStyle/>
                    <a:p>
                      <a:r>
                        <a:rPr lang="en-US" dirty="0"/>
                        <a:t>August  </a:t>
                      </a:r>
                      <a:r>
                        <a:rPr lang="en-US" b="1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-3.68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+110.63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6925194"/>
                  </a:ext>
                </a:extLst>
              </a:tr>
              <a:tr h="559019">
                <a:tc>
                  <a:txBody>
                    <a:bodyPr/>
                    <a:lstStyle/>
                    <a:p>
                      <a:r>
                        <a:rPr lang="en-US" dirty="0"/>
                        <a:t>September </a:t>
                      </a:r>
                      <a:r>
                        <a:rPr lang="en-US" b="1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+23.81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7624369"/>
                  </a:ext>
                </a:extLst>
              </a:tr>
              <a:tr h="323876">
                <a:tc>
                  <a:txBody>
                    <a:bodyPr/>
                    <a:lstStyle/>
                    <a:p>
                      <a:r>
                        <a:rPr lang="en-US" dirty="0"/>
                        <a:t>April  </a:t>
                      </a:r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`                          -12.06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+156.43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12.97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3159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1C8321-3538-6819-330D-A65512CFA78C}"/>
              </a:ext>
            </a:extLst>
          </p:cNvPr>
          <p:cNvSpPr txBox="1"/>
          <p:nvPr/>
        </p:nvSpPr>
        <p:spPr>
          <a:xfrm>
            <a:off x="0" y="207033"/>
            <a:ext cx="9109495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800" b="1" i="1" dirty="0">
                <a:solidFill>
                  <a:srgbClr val="0F1115"/>
                </a:solidFill>
                <a:effectLst/>
                <a:latin typeface="quote-cjk-patch"/>
              </a:rPr>
              <a:t>Price Elasticity of Demand During Promotional Periods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5ADB-E5B0-3963-F4D3-E6F8F39E062C}"/>
              </a:ext>
            </a:extLst>
          </p:cNvPr>
          <p:cNvSpPr txBox="1"/>
          <p:nvPr/>
        </p:nvSpPr>
        <p:spPr>
          <a:xfrm>
            <a:off x="-88181" y="3008116"/>
            <a:ext cx="12280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  <a:latin typeface="quote-cjk-patch"/>
              </a:rPr>
              <a:t>All PED values are greater than 1, meaning demand is highly elastic and customers respond strongly to price reductions.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E4E91-E72C-81F1-396E-7D56D6DAD344}"/>
              </a:ext>
            </a:extLst>
          </p:cNvPr>
          <p:cNvSpPr txBox="1"/>
          <p:nvPr/>
        </p:nvSpPr>
        <p:spPr>
          <a:xfrm>
            <a:off x="-88181" y="3716002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my opinion, this product performs worse at a promotional price, despite elastic demand (PED &gt; 1), gross profit margins were negative in Aug 2014 (-5.1352%), Sep 2015 (-7.5932%), and Apr 2016 (-7.0731%), confirming that promotions led to losses.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644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FC3527-6B12-02BA-CF68-17024EB17BA0}"/>
              </a:ext>
            </a:extLst>
          </p:cNvPr>
          <p:cNvSpPr txBox="1"/>
          <p:nvPr/>
        </p:nvSpPr>
        <p:spPr>
          <a:xfrm>
            <a:off x="737559" y="470941"/>
            <a:ext cx="6098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Recommendations</a:t>
            </a:r>
            <a:endParaRPr lang="en-US" sz="24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68F2D-9291-DF44-32D9-9C54A73EF24B}"/>
              </a:ext>
            </a:extLst>
          </p:cNvPr>
          <p:cNvSpPr txBox="1"/>
          <p:nvPr/>
        </p:nvSpPr>
        <p:spPr>
          <a:xfrm>
            <a:off x="306238" y="1111137"/>
            <a:ext cx="11667226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reducing costs or using segmented pricing instead of raising prices to maintain sales volume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4755C-D66B-D10E-E67A-0D7AF9748C10}"/>
              </a:ext>
            </a:extLst>
          </p:cNvPr>
          <p:cNvSpPr txBox="1"/>
          <p:nvPr/>
        </p:nvSpPr>
        <p:spPr>
          <a:xfrm>
            <a:off x="306237" y="1715169"/>
            <a:ext cx="10597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  <a:latin typeface="quote-cjk-patch"/>
              </a:rPr>
              <a:t>Monitor cost fluctuations closely and adjust pricing proactively to protect margins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9772D-19F3-01B5-8480-8EDD1837E04E}"/>
              </a:ext>
            </a:extLst>
          </p:cNvPr>
          <p:cNvSpPr txBox="1"/>
          <p:nvPr/>
        </p:nvSpPr>
        <p:spPr>
          <a:xfrm>
            <a:off x="306237" y="2293810"/>
            <a:ext cx="11028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000" dirty="0">
                <a:solidFill>
                  <a:srgbClr val="0F1115"/>
                </a:solidFill>
                <a:latin typeface="quote-cjk-patch"/>
              </a:rPr>
              <a:t>P</a:t>
            </a:r>
            <a:r>
              <a:rPr lang="en-US" sz="2000" i="0" dirty="0">
                <a:solidFill>
                  <a:srgbClr val="0F1115"/>
                </a:solidFill>
                <a:effectLst/>
                <a:latin typeface="quote-cjk-patch"/>
              </a:rPr>
              <a:t>rotect gross profit per unit rather than chasing quantity driven sales growth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FA74A-9C18-2FA6-6D78-F543C33F39D1}"/>
              </a:ext>
            </a:extLst>
          </p:cNvPr>
          <p:cNvSpPr txBox="1"/>
          <p:nvPr/>
        </p:nvSpPr>
        <p:spPr>
          <a:xfrm>
            <a:off x="306237" y="2872451"/>
            <a:ext cx="6098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  <a:latin typeface="quote-cjk-patch"/>
              </a:rPr>
              <a:t>Avoid promotional pricing below unit cost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133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1807</TotalTime>
  <Words>423</Words>
  <Application>Microsoft Office PowerPoint</Application>
  <PresentationFormat>Widescreen</PresentationFormat>
  <Paragraphs>53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nolwazi ndiweni</dc:creator>
  <cp:lastModifiedBy>nolwazi ndiweni</cp:lastModifiedBy>
  <cp:revision>1</cp:revision>
  <dcterms:created xsi:type="dcterms:W3CDTF">2026-04-06T18:43:18Z</dcterms:created>
  <dcterms:modified xsi:type="dcterms:W3CDTF">2026-04-22T14:21:28Z</dcterms:modified>
</cp:coreProperties>
</file>